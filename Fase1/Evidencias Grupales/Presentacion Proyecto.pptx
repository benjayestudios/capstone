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Calibri (MS) Bold" charset="1" panose="020F0702030404030204"/>
      <p:regular r:id="rId21"/>
    </p:embeddedFont>
    <p:embeddedFont>
      <p:font typeface="Cambria Bold" charset="1" panose="02040803050406030204"/>
      <p:regular r:id="rId22"/>
    </p:embeddedFont>
    <p:embeddedFont>
      <p:font typeface="Calibri (MS) Italics" charset="1" panose="020F05020202040A0204"/>
      <p:regular r:id="rId23"/>
    </p:embeddedFont>
    <p:embeddedFont>
      <p:font typeface="Calibri (MS)" charset="1" panose="020F0502020204030204"/>
      <p:regular r:id="rId24"/>
    </p:embeddedFont>
    <p:embeddedFont>
      <p:font typeface="Calibri (MS) Bold Italics" charset="1" panose="020F07020304040A0204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fonts/font31.fntdata" Type="http://schemas.openxmlformats.org/officeDocument/2006/relationships/font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4972" y="-3575631"/>
            <a:ext cx="5760720" cy="7151261"/>
            <a:chOff x="0" y="0"/>
            <a:chExt cx="7680960" cy="953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9535015"/>
            </a:xfrm>
            <a:custGeom>
              <a:avLst/>
              <a:gdLst/>
              <a:ahLst/>
              <a:cxnLst/>
              <a:rect r="r" b="b" t="t" l="l"/>
              <a:pathLst>
                <a:path h="9535015" w="7680960">
                  <a:moveTo>
                    <a:pt x="0" y="4767507"/>
                  </a:moveTo>
                  <a:cubicBezTo>
                    <a:pt x="0" y="2134500"/>
                    <a:pt x="1719453" y="0"/>
                    <a:pt x="3840480" y="0"/>
                  </a:cubicBezTo>
                  <a:cubicBezTo>
                    <a:pt x="5961507" y="0"/>
                    <a:pt x="7680960" y="2134500"/>
                    <a:pt x="7680960" y="4767507"/>
                  </a:cubicBezTo>
                  <a:cubicBezTo>
                    <a:pt x="7680960" y="7400515"/>
                    <a:pt x="5961507" y="9535015"/>
                    <a:pt x="3840480" y="9535015"/>
                  </a:cubicBezTo>
                  <a:cubicBezTo>
                    <a:pt x="1719453" y="9535015"/>
                    <a:pt x="0" y="7400515"/>
                    <a:pt x="0" y="4767507"/>
                  </a:cubicBezTo>
                  <a:close/>
                </a:path>
              </a:pathLst>
            </a:custGeom>
            <a:solidFill>
              <a:srgbClr val="00BCD4">
                <a:alpha val="60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057400" y="8436102"/>
            <a:ext cx="4114800" cy="4114800"/>
            <a:chOff x="0" y="0"/>
            <a:chExt cx="5486400" cy="548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00BCD4">
                <a:alpha val="60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2948940"/>
            <a:ext cx="10972800" cy="548640"/>
            <a:chOff x="0" y="0"/>
            <a:chExt cx="14630400" cy="7315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30400" cy="731520"/>
            </a:xfrm>
            <a:custGeom>
              <a:avLst/>
              <a:gdLst/>
              <a:ahLst/>
              <a:cxnLst/>
              <a:rect r="r" b="b" t="t" l="l"/>
              <a:pathLst>
                <a:path h="73152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46304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 spc="450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PROYECTO DE TÍTULO · FASE 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4440" y="3497580"/>
            <a:ext cx="13716000" cy="2194560"/>
            <a:chOff x="0" y="0"/>
            <a:chExt cx="18288000" cy="29260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288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1828800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40"/>
                </a:lnSpc>
              </a:pPr>
              <a:r>
                <a:rPr lang="en-US" sz="10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Cotizapp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234440" y="5417820"/>
            <a:ext cx="13030200" cy="887713"/>
            <a:chOff x="0" y="0"/>
            <a:chExt cx="17373600" cy="11836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373600" cy="1183618"/>
            </a:xfrm>
            <a:custGeom>
              <a:avLst/>
              <a:gdLst/>
              <a:ahLst/>
              <a:cxnLst/>
              <a:rect r="r" b="b" t="t" l="l"/>
              <a:pathLst>
                <a:path h="1183618" w="17373600">
                  <a:moveTo>
                    <a:pt x="0" y="0"/>
                  </a:moveTo>
                  <a:lnTo>
                    <a:pt x="17373600" y="0"/>
                  </a:lnTo>
                  <a:lnTo>
                    <a:pt x="17373600" y="1183618"/>
                  </a:lnTo>
                  <a:lnTo>
                    <a:pt x="0" y="118361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656" r="0" b="-232361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7373600" cy="12312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60"/>
                </a:lnSpc>
              </a:pPr>
              <a:r>
                <a:rPr lang="en-US" sz="2550" i="true">
                  <a:solidFill>
                    <a:srgbClr val="CFE3E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Sistema </a:t>
              </a:r>
              <a:r>
                <a:rPr lang="en-US" sz="2550" i="true">
                  <a:solidFill>
                    <a:srgbClr val="CFE3E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Ecommerce centralizado de cotización y compra multiproveedor para pymes del rubro alimenticio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 rot="11520">
            <a:off x="1220124" y="6917055"/>
            <a:ext cx="8532543" cy="0"/>
          </a:xfrm>
          <a:prstGeom prst="line">
            <a:avLst/>
          </a:prstGeom>
          <a:ln cap="rnd" w="19050">
            <a:solidFill>
              <a:srgbClr val="00BC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234440" y="7200900"/>
            <a:ext cx="13716000" cy="548640"/>
            <a:chOff x="0" y="0"/>
            <a:chExt cx="1828800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Samuel Alarcón · Sebastián Ramírez · Benjamín González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34440" y="7708392"/>
            <a:ext cx="13716000" cy="480060"/>
            <a:chOff x="0" y="0"/>
            <a:chExt cx="1828800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28800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CFE3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Ingeniería en Informática · Duoc UC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CONTEXTO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3444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problema que resolvemos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2948940"/>
            <a:ext cx="7818120" cy="2880360"/>
            <a:chOff x="0" y="0"/>
            <a:chExt cx="10424160" cy="38404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4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3657600"/>
                  </a:lnTo>
                  <a:cubicBezTo>
                    <a:pt x="10424160" y="3758565"/>
                    <a:pt x="10342245" y="3840480"/>
                    <a:pt x="1024128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111D2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71600" y="3360420"/>
            <a:ext cx="685800" cy="685800"/>
            <a:chOff x="0" y="0"/>
            <a:chExt cx="9144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371600" y="3360420"/>
            <a:ext cx="685800" cy="685800"/>
            <a:chOff x="0" y="0"/>
            <a:chExt cx="914400" cy="914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2331720" y="3332988"/>
            <a:ext cx="6035040" cy="548640"/>
            <a:chOff x="0" y="0"/>
            <a:chExt cx="804672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80467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Cotización dispersa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71600" y="4251960"/>
            <a:ext cx="6995160" cy="1371600"/>
            <a:chOff x="0" y="0"/>
            <a:chExt cx="9326880" cy="1828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85725"/>
              <a:ext cx="93268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 pymes cotizan por separado con cada distribuidor: llamadas, WhatsApp, visitas presenciales.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64040" y="2948940"/>
            <a:ext cx="7818120" cy="2880360"/>
            <a:chOff x="0" y="0"/>
            <a:chExt cx="10424160" cy="38404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424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3657600"/>
                  </a:lnTo>
                  <a:cubicBezTo>
                    <a:pt x="10424160" y="3758565"/>
                    <a:pt x="10342245" y="3840480"/>
                    <a:pt x="1024128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111D2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875520" y="3360420"/>
            <a:ext cx="685800" cy="685800"/>
            <a:chOff x="0" y="0"/>
            <a:chExt cx="914400" cy="914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75520" y="3360420"/>
            <a:ext cx="685800" cy="685800"/>
            <a:chOff x="0" y="0"/>
            <a:chExt cx="914400" cy="914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35640" y="3332988"/>
            <a:ext cx="6035040" cy="548640"/>
            <a:chOff x="0" y="0"/>
            <a:chExt cx="8046720" cy="7315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0467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Sin comparación real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75520" y="4251960"/>
            <a:ext cx="6995160" cy="1371600"/>
            <a:chOff x="0" y="0"/>
            <a:chExt cx="9326880" cy="1828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85725"/>
              <a:ext cx="93268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existe un lugar donde comparar precio, tiempo de entrega y confiabilidad entre distribuidores.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960120" y="6309360"/>
            <a:ext cx="7818120" cy="2880360"/>
            <a:chOff x="0" y="0"/>
            <a:chExt cx="10424160" cy="38404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424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3657600"/>
                  </a:lnTo>
                  <a:cubicBezTo>
                    <a:pt x="10424160" y="3758565"/>
                    <a:pt x="10342245" y="3840480"/>
                    <a:pt x="1024128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111D2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71600" y="6720840"/>
            <a:ext cx="685800" cy="685800"/>
            <a:chOff x="0" y="0"/>
            <a:chExt cx="914400" cy="9144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71600" y="6720840"/>
            <a:ext cx="685800" cy="685800"/>
            <a:chOff x="0" y="0"/>
            <a:chExt cx="914400" cy="9144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331720" y="6693408"/>
            <a:ext cx="6035040" cy="548640"/>
            <a:chOff x="0" y="0"/>
            <a:chExt cx="804672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80467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Compra fragmentada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71600" y="7612380"/>
            <a:ext cx="6995160" cy="1371600"/>
            <a:chOff x="0" y="0"/>
            <a:chExt cx="9326880" cy="1828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85725"/>
              <a:ext cx="93268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Comprar a varios distribuidores implica varios pagos y varios procesos de seguimiento por separado.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64040" y="6309360"/>
            <a:ext cx="7818120" cy="2880360"/>
            <a:chOff x="0" y="0"/>
            <a:chExt cx="10424160" cy="38404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424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3657600"/>
                  </a:lnTo>
                  <a:cubicBezTo>
                    <a:pt x="10424160" y="3758565"/>
                    <a:pt x="10342245" y="3840480"/>
                    <a:pt x="10241280" y="3840480"/>
                  </a:cubicBezTo>
                  <a:lnTo>
                    <a:pt x="182880" y="3840480"/>
                  </a:lnTo>
                  <a:cubicBezTo>
                    <a:pt x="81915" y="3840480"/>
                    <a:pt x="0" y="3758565"/>
                    <a:pt x="0" y="3657600"/>
                  </a:cubicBezTo>
                  <a:close/>
                </a:path>
              </a:pathLst>
            </a:custGeom>
            <a:solidFill>
              <a:srgbClr val="111D2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875520" y="6720840"/>
            <a:ext cx="685800" cy="685800"/>
            <a:chOff x="0" y="0"/>
            <a:chExt cx="914400" cy="914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875520" y="6720840"/>
            <a:ext cx="685800" cy="685800"/>
            <a:chOff x="0" y="0"/>
            <a:chExt cx="914400" cy="9144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914400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0835640" y="6693408"/>
            <a:ext cx="6035040" cy="548640"/>
            <a:chOff x="0" y="0"/>
            <a:chExt cx="80467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8046720" cy="731520"/>
            </a:xfrm>
            <a:custGeom>
              <a:avLst/>
              <a:gdLst/>
              <a:ahLst/>
              <a:cxnLst/>
              <a:rect r="r" b="b" t="t" l="l"/>
              <a:pathLst>
                <a:path h="731520" w="8046720">
                  <a:moveTo>
                    <a:pt x="0" y="0"/>
                  </a:moveTo>
                  <a:lnTo>
                    <a:pt x="8046720" y="0"/>
                  </a:lnTo>
                  <a:lnTo>
                    <a:pt x="8046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804672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Poca visibilidad para el distribuidor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875520" y="7612380"/>
            <a:ext cx="6995160" cy="1371600"/>
            <a:chOff x="0" y="0"/>
            <a:chExt cx="9326880" cy="18288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9326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9326880">
                  <a:moveTo>
                    <a:pt x="0" y="0"/>
                  </a:moveTo>
                  <a:lnTo>
                    <a:pt x="9326880" y="0"/>
                  </a:lnTo>
                  <a:lnTo>
                    <a:pt x="9326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9373" r="0" b="-49373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85725"/>
              <a:ext cx="93268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Las distribuidoras pequeñas no cuentan con canales digitales para competir con grandes actores.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QUIÉN ESTÁ DIRIGIDO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3444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Caso de uso: Juanito y su minimarket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2948940"/>
            <a:ext cx="7680960" cy="6816852"/>
            <a:chOff x="0" y="0"/>
            <a:chExt cx="10241280" cy="9089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0" cy="9089136"/>
            </a:xfrm>
            <a:custGeom>
              <a:avLst/>
              <a:gdLst/>
              <a:ahLst/>
              <a:cxnLst/>
              <a:rect r="r" b="b" t="t" l="l"/>
              <a:pathLst>
                <a:path h="9089136" w="10241280">
                  <a:moveTo>
                    <a:pt x="0" y="242377"/>
                  </a:moveTo>
                  <a:cubicBezTo>
                    <a:pt x="0" y="108565"/>
                    <a:pt x="98298" y="0"/>
                    <a:pt x="219456" y="0"/>
                  </a:cubicBezTo>
                  <a:lnTo>
                    <a:pt x="10021824" y="0"/>
                  </a:lnTo>
                  <a:cubicBezTo>
                    <a:pt x="10142982" y="0"/>
                    <a:pt x="10241280" y="108565"/>
                    <a:pt x="10241280" y="242377"/>
                  </a:cubicBezTo>
                  <a:lnTo>
                    <a:pt x="10241280" y="8846758"/>
                  </a:lnTo>
                  <a:cubicBezTo>
                    <a:pt x="10241280" y="8980570"/>
                    <a:pt x="10142982" y="9089136"/>
                    <a:pt x="10021824" y="9089136"/>
                  </a:cubicBezTo>
                  <a:lnTo>
                    <a:pt x="219456" y="9089136"/>
                  </a:lnTo>
                  <a:cubicBezTo>
                    <a:pt x="98298" y="9089136"/>
                    <a:pt x="0" y="8980571"/>
                    <a:pt x="0" y="8846758"/>
                  </a:cubicBezTo>
                  <a:close/>
                </a:path>
              </a:pathLst>
            </a:custGeom>
            <a:solidFill>
              <a:srgbClr val="004D5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40180" y="3360420"/>
            <a:ext cx="6858000" cy="685800"/>
            <a:chOff x="0" y="0"/>
            <a:chExt cx="9144000" cy="9144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1440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9144000" cy="923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Juanito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40180" y="4046220"/>
            <a:ext cx="6720840" cy="960120"/>
            <a:chOff x="0" y="0"/>
            <a:chExt cx="8961120" cy="12801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961120" cy="1280160"/>
            </a:xfrm>
            <a:custGeom>
              <a:avLst/>
              <a:gdLst/>
              <a:ahLst/>
              <a:cxnLst/>
              <a:rect r="r" b="b" t="t" l="l"/>
              <a:pathLst>
                <a:path h="128016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6395" r="0" b="-8639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961120" cy="13182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9"/>
                </a:lnSpc>
              </a:pPr>
              <a:r>
                <a:rPr lang="en-US" sz="2049" i="true">
                  <a:solidFill>
                    <a:srgbClr val="CFE3E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Dueño de un minimarket que necesita reabastecer productos alimenticios cada semana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440180" y="5349240"/>
            <a:ext cx="164592" cy="164592"/>
            <a:chOff x="0" y="0"/>
            <a:chExt cx="219456" cy="21945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851660" y="5075682"/>
            <a:ext cx="6309360" cy="798830"/>
            <a:chOff x="0" y="0"/>
            <a:chExt cx="8412480" cy="106510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412480" cy="1065107"/>
            </a:xfrm>
            <a:custGeom>
              <a:avLst/>
              <a:gdLst/>
              <a:ahLst/>
              <a:cxnLst/>
              <a:rect r="r" b="b" t="t" l="l"/>
              <a:pathLst>
                <a:path h="1065107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65107"/>
                  </a:lnTo>
                  <a:lnTo>
                    <a:pt x="0" y="1065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79" r="0" b="-101115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8412480" cy="1141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Comparar precio y tiempo de entrega entre distribuidores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440180" y="6390132"/>
            <a:ext cx="164592" cy="164592"/>
            <a:chOff x="0" y="0"/>
            <a:chExt cx="219456" cy="21945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851660" y="6122670"/>
            <a:ext cx="6309360" cy="798830"/>
            <a:chOff x="0" y="0"/>
            <a:chExt cx="8412480" cy="106510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412480" cy="1065107"/>
            </a:xfrm>
            <a:custGeom>
              <a:avLst/>
              <a:gdLst/>
              <a:ahLst/>
              <a:cxnLst/>
              <a:rect r="r" b="b" t="t" l="l"/>
              <a:pathLst>
                <a:path h="1065107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65107"/>
                  </a:lnTo>
                  <a:lnTo>
                    <a:pt x="0" y="1065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79" r="0" b="-10111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8412480" cy="1141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Comprar a más de un distribuidor en una sola transacción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440180" y="7335774"/>
            <a:ext cx="164592" cy="164592"/>
            <a:chOff x="0" y="0"/>
            <a:chExt cx="219456" cy="2194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851660" y="7082028"/>
            <a:ext cx="6309360" cy="798830"/>
            <a:chOff x="0" y="0"/>
            <a:chExt cx="8412480" cy="10651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412480" cy="1065107"/>
            </a:xfrm>
            <a:custGeom>
              <a:avLst/>
              <a:gdLst/>
              <a:ahLst/>
              <a:cxnLst/>
              <a:rect r="r" b="b" t="t" l="l"/>
              <a:pathLst>
                <a:path h="1065107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65107"/>
                  </a:lnTo>
                  <a:lnTo>
                    <a:pt x="0" y="1065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79" r="0" b="-10111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8412480" cy="1141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Recibir un solo detalle de compra, aunque venga de varios proveedores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40180" y="8479165"/>
            <a:ext cx="164592" cy="164592"/>
            <a:chOff x="0" y="0"/>
            <a:chExt cx="219456" cy="2194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9456" cy="219456"/>
            </a:xfrm>
            <a:custGeom>
              <a:avLst/>
              <a:gdLst/>
              <a:ahLst/>
              <a:cxnLst/>
              <a:rect r="r" b="b" t="t" l="l"/>
              <a:pathLst>
                <a:path h="219456" w="219456">
                  <a:moveTo>
                    <a:pt x="0" y="109728"/>
                  </a:moveTo>
                  <a:cubicBezTo>
                    <a:pt x="0" y="49149"/>
                    <a:pt x="49149" y="0"/>
                    <a:pt x="109728" y="0"/>
                  </a:cubicBezTo>
                  <a:cubicBezTo>
                    <a:pt x="170307" y="0"/>
                    <a:pt x="219456" y="49149"/>
                    <a:pt x="219456" y="109728"/>
                  </a:cubicBezTo>
                  <a:cubicBezTo>
                    <a:pt x="219456" y="170307"/>
                    <a:pt x="170307" y="219456"/>
                    <a:pt x="109728" y="219456"/>
                  </a:cubicBezTo>
                  <a:cubicBezTo>
                    <a:pt x="49149" y="219456"/>
                    <a:pt x="0" y="170307"/>
                    <a:pt x="0" y="109728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807207" y="8131937"/>
            <a:ext cx="6309360" cy="798830"/>
            <a:chOff x="0" y="0"/>
            <a:chExt cx="8412480" cy="106510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412480" cy="1065107"/>
            </a:xfrm>
            <a:custGeom>
              <a:avLst/>
              <a:gdLst/>
              <a:ahLst/>
              <a:cxnLst/>
              <a:rect r="r" b="b" t="t" l="l"/>
              <a:pathLst>
                <a:path h="1065107" w="8412480">
                  <a:moveTo>
                    <a:pt x="0" y="0"/>
                  </a:moveTo>
                  <a:lnTo>
                    <a:pt x="8412480" y="0"/>
                  </a:lnTo>
                  <a:lnTo>
                    <a:pt x="8412480" y="1065107"/>
                  </a:lnTo>
                  <a:lnTo>
                    <a:pt x="0" y="106510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679" r="0" b="-10111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8412480" cy="114130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Confiar en el distribuidor según su calificación y ventas previas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189720" y="3017520"/>
            <a:ext cx="8229600" cy="548640"/>
            <a:chOff x="0" y="0"/>
            <a:chExt cx="10972800" cy="73152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1097280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El flujo en Cotizapp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89720" y="3771900"/>
            <a:ext cx="8092440" cy="1344168"/>
            <a:chOff x="0" y="0"/>
            <a:chExt cx="10789920" cy="179222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7899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645920"/>
                  </a:lnTo>
                  <a:cubicBezTo>
                    <a:pt x="10789920" y="1726692"/>
                    <a:pt x="10724388" y="1792224"/>
                    <a:pt x="10643616" y="1792224"/>
                  </a:cubicBezTo>
                  <a:lnTo>
                    <a:pt x="146304" y="1792224"/>
                  </a:lnTo>
                  <a:cubicBezTo>
                    <a:pt x="65532" y="1792224"/>
                    <a:pt x="0" y="1726692"/>
                    <a:pt x="0" y="1645920"/>
                  </a:cubicBezTo>
                  <a:close/>
                </a:path>
              </a:pathLst>
            </a:custGeom>
            <a:solidFill>
              <a:srgbClr val="27472C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64040" y="4073652"/>
            <a:ext cx="685800" cy="685800"/>
            <a:chOff x="0" y="0"/>
            <a:chExt cx="914400" cy="9144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4D5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464040" y="4073652"/>
            <a:ext cx="685800" cy="685800"/>
            <a:chOff x="0" y="0"/>
            <a:chExt cx="914400" cy="9144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355580" y="3881628"/>
            <a:ext cx="6720840" cy="480060"/>
            <a:chOff x="0" y="0"/>
            <a:chExt cx="8961120" cy="6400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8961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Explora y compara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0355580" y="4347972"/>
            <a:ext cx="6720840" cy="689832"/>
            <a:chOff x="0" y="0"/>
            <a:chExt cx="8961120" cy="919777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961120" cy="919777"/>
            </a:xfrm>
            <a:custGeom>
              <a:avLst/>
              <a:gdLst/>
              <a:ahLst/>
              <a:cxnLst/>
              <a:rect r="r" b="b" t="t" l="l"/>
              <a:pathLst>
                <a:path h="919777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919777"/>
                  </a:lnTo>
                  <a:lnTo>
                    <a:pt x="0" y="919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129" r="0" b="-13954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8961120" cy="976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5"/>
                </a:lnSpc>
              </a:pPr>
              <a:r>
                <a:rPr lang="en-US" sz="19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Busca abarrotes e insumos y compara precio, entrega y calificación entre distribuidores.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89720" y="5321808"/>
            <a:ext cx="8092440" cy="1344168"/>
            <a:chOff x="0" y="0"/>
            <a:chExt cx="10789920" cy="179222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7899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645920"/>
                  </a:lnTo>
                  <a:cubicBezTo>
                    <a:pt x="10789920" y="1726692"/>
                    <a:pt x="10724388" y="1792224"/>
                    <a:pt x="10643616" y="1792224"/>
                  </a:cubicBezTo>
                  <a:lnTo>
                    <a:pt x="146304" y="1792224"/>
                  </a:lnTo>
                  <a:cubicBezTo>
                    <a:pt x="65532" y="1792224"/>
                    <a:pt x="0" y="1726692"/>
                    <a:pt x="0" y="1645920"/>
                  </a:cubicBezTo>
                  <a:close/>
                </a:path>
              </a:pathLst>
            </a:custGeom>
            <a:solidFill>
              <a:srgbClr val="27472C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464040" y="5623560"/>
            <a:ext cx="685800" cy="685800"/>
            <a:chOff x="0" y="0"/>
            <a:chExt cx="914400" cy="9144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4D5A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464040" y="5623560"/>
            <a:ext cx="685800" cy="685800"/>
            <a:chOff x="0" y="0"/>
            <a:chExt cx="914400" cy="9144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355580" y="5431536"/>
            <a:ext cx="6720840" cy="480060"/>
            <a:chOff x="0" y="0"/>
            <a:chExt cx="8961120" cy="64008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19050"/>
              <a:ext cx="8961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Arma un carrito multiproveedor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355580" y="5897880"/>
            <a:ext cx="6720840" cy="685800"/>
            <a:chOff x="0" y="0"/>
            <a:chExt cx="8961120" cy="91440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961120" cy="914400"/>
            </a:xfrm>
            <a:custGeom>
              <a:avLst/>
              <a:gdLst/>
              <a:ahLst/>
              <a:cxnLst/>
              <a:rect r="r" b="b" t="t" l="l"/>
              <a:pathLst>
                <a:path h="91440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953" r="0" b="-140953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896112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5"/>
                </a:lnSpc>
              </a:pPr>
              <a:r>
                <a:rPr lang="en-US" sz="19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Agrega productos de distintos distribuidores al mismo carrito.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189720" y="6871716"/>
            <a:ext cx="8092440" cy="1344168"/>
            <a:chOff x="0" y="0"/>
            <a:chExt cx="10789920" cy="179222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7899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645920"/>
                  </a:lnTo>
                  <a:cubicBezTo>
                    <a:pt x="10789920" y="1726692"/>
                    <a:pt x="10724388" y="1792224"/>
                    <a:pt x="10643616" y="1792224"/>
                  </a:cubicBezTo>
                  <a:lnTo>
                    <a:pt x="146304" y="1792224"/>
                  </a:lnTo>
                  <a:cubicBezTo>
                    <a:pt x="65532" y="1792224"/>
                    <a:pt x="0" y="1726692"/>
                    <a:pt x="0" y="1645920"/>
                  </a:cubicBezTo>
                  <a:close/>
                </a:path>
              </a:pathLst>
            </a:custGeom>
            <a:solidFill>
              <a:srgbClr val="27472C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9464040" y="7173468"/>
            <a:ext cx="685800" cy="685800"/>
            <a:chOff x="0" y="0"/>
            <a:chExt cx="914400" cy="91440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4D5A"/>
            </a:solid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464040" y="7173468"/>
            <a:ext cx="685800" cy="685800"/>
            <a:chOff x="0" y="0"/>
            <a:chExt cx="914400" cy="9144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0355580" y="6981444"/>
            <a:ext cx="6720840" cy="480060"/>
            <a:chOff x="0" y="0"/>
            <a:chExt cx="8961120" cy="6400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8961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Paga una sola vez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0355580" y="7447788"/>
            <a:ext cx="6720840" cy="689832"/>
            <a:chOff x="0" y="0"/>
            <a:chExt cx="8961120" cy="919777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8961120" cy="919777"/>
            </a:xfrm>
            <a:custGeom>
              <a:avLst/>
              <a:gdLst/>
              <a:ahLst/>
              <a:cxnLst/>
              <a:rect r="r" b="b" t="t" l="l"/>
              <a:pathLst>
                <a:path h="919777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919777"/>
                  </a:lnTo>
                  <a:lnTo>
                    <a:pt x="0" y="919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129" r="0" b="-139544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8961120" cy="976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5"/>
                </a:lnSpc>
              </a:pPr>
              <a:r>
                <a:rPr lang="en-US" sz="19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único pago vía Webpay/MercadoPago, con reparto simulado entre distribuidores.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9189720" y="8421624"/>
            <a:ext cx="8092440" cy="1344168"/>
            <a:chOff x="0" y="0"/>
            <a:chExt cx="10789920" cy="179222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78992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0789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10643616" y="0"/>
                  </a:lnTo>
                  <a:cubicBezTo>
                    <a:pt x="10724388" y="0"/>
                    <a:pt x="10789920" y="65532"/>
                    <a:pt x="10789920" y="146304"/>
                  </a:cubicBezTo>
                  <a:lnTo>
                    <a:pt x="10789920" y="1645920"/>
                  </a:lnTo>
                  <a:cubicBezTo>
                    <a:pt x="10789920" y="1726692"/>
                    <a:pt x="10724388" y="1792224"/>
                    <a:pt x="10643616" y="1792224"/>
                  </a:cubicBezTo>
                  <a:lnTo>
                    <a:pt x="146304" y="1792224"/>
                  </a:lnTo>
                  <a:cubicBezTo>
                    <a:pt x="65532" y="1792224"/>
                    <a:pt x="0" y="1726692"/>
                    <a:pt x="0" y="1645920"/>
                  </a:cubicBezTo>
                  <a:close/>
                </a:path>
              </a:pathLst>
            </a:custGeom>
            <a:solidFill>
              <a:srgbClr val="27472C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0" id="80"/>
          <p:cNvGrpSpPr/>
          <p:nvPr/>
        </p:nvGrpSpPr>
        <p:grpSpPr>
          <a:xfrm rot="0">
            <a:off x="9464040" y="8723376"/>
            <a:ext cx="685800" cy="685800"/>
            <a:chOff x="0" y="0"/>
            <a:chExt cx="914400" cy="9144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04D5A"/>
            </a:solid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464040" y="8723376"/>
            <a:ext cx="685800" cy="685800"/>
            <a:chOff x="0" y="0"/>
            <a:chExt cx="914400" cy="91440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47625"/>
              <a:ext cx="914400" cy="9620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0355580" y="8531352"/>
            <a:ext cx="6720840" cy="480060"/>
            <a:chOff x="0" y="0"/>
            <a:chExt cx="8961120" cy="64008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8961120" cy="640080"/>
            </a:xfrm>
            <a:custGeom>
              <a:avLst/>
              <a:gdLst/>
              <a:ahLst/>
              <a:cxnLst/>
              <a:rect r="r" b="b" t="t" l="l"/>
              <a:pathLst>
                <a:path h="640080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2790" r="0" b="-222790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19050"/>
              <a:ext cx="896112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Recibe un detalle consolidado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0355580" y="8997696"/>
            <a:ext cx="6720840" cy="689832"/>
            <a:chOff x="0" y="0"/>
            <a:chExt cx="8961120" cy="919777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8961120" cy="919777"/>
            </a:xfrm>
            <a:custGeom>
              <a:avLst/>
              <a:gdLst/>
              <a:ahLst/>
              <a:cxnLst/>
              <a:rect r="r" b="b" t="t" l="l"/>
              <a:pathLst>
                <a:path h="919777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919777"/>
                  </a:lnTo>
                  <a:lnTo>
                    <a:pt x="0" y="91977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129" r="0" b="-139544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57150"/>
              <a:ext cx="8961120" cy="97692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5"/>
                </a:lnSpc>
              </a:pPr>
              <a:r>
                <a:rPr lang="en-US" sz="1924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 solo comprobante de compra, aunque cada distribuidor emita su propio documento tributario.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1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SOLUCIÓN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3444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Tres roles, una sola plataforma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154680"/>
            <a:ext cx="5212080" cy="5623560"/>
            <a:chOff x="0" y="0"/>
            <a:chExt cx="6949440" cy="7498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4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69494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29984" y="0"/>
                  </a:lnTo>
                  <a:cubicBezTo>
                    <a:pt x="6851142" y="0"/>
                    <a:pt x="6949440" y="98298"/>
                    <a:pt x="6949440" y="219456"/>
                  </a:cubicBezTo>
                  <a:lnTo>
                    <a:pt x="6949440" y="7278624"/>
                  </a:lnTo>
                  <a:cubicBezTo>
                    <a:pt x="6949440" y="7399782"/>
                    <a:pt x="6851142" y="7498080"/>
                    <a:pt x="6729984" y="7498080"/>
                  </a:cubicBezTo>
                  <a:lnTo>
                    <a:pt x="219456" y="7498080"/>
                  </a:lnTo>
                  <a:cubicBezTo>
                    <a:pt x="98298" y="7498080"/>
                    <a:pt x="0" y="7399782"/>
                    <a:pt x="0" y="7278624"/>
                  </a:cubicBezTo>
                  <a:close/>
                </a:path>
              </a:pathLst>
            </a:custGeom>
            <a:solidFill>
              <a:srgbClr val="004D5A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40180" y="3634740"/>
            <a:ext cx="960120" cy="960120"/>
            <a:chOff x="0" y="0"/>
            <a:chExt cx="1280160" cy="12801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0BCD4">
                <a:alpha val="3137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3634740"/>
            <a:ext cx="960120" cy="960120"/>
            <a:chOff x="0" y="0"/>
            <a:chExt cx="1280160" cy="128016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440180" y="4869180"/>
            <a:ext cx="4251960" cy="1097280"/>
            <a:chOff x="0" y="0"/>
            <a:chExt cx="5669280" cy="1463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5669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Cliente / Emprendedor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40180" y="6103620"/>
            <a:ext cx="4251960" cy="2331720"/>
            <a:chOff x="0" y="0"/>
            <a:chExt cx="5669280" cy="31089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6692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04775"/>
              <a:ext cx="5669280" cy="3213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Explora el catálogo, compara distribuidores y compra a varios a la vez desde un solo carrito.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6720840" y="3154680"/>
            <a:ext cx="5212080" cy="5623560"/>
            <a:chOff x="0" y="0"/>
            <a:chExt cx="6949440" cy="7498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494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69494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29984" y="0"/>
                  </a:lnTo>
                  <a:cubicBezTo>
                    <a:pt x="6851142" y="0"/>
                    <a:pt x="6949440" y="98298"/>
                    <a:pt x="6949440" y="219456"/>
                  </a:cubicBezTo>
                  <a:lnTo>
                    <a:pt x="6949440" y="7278624"/>
                  </a:lnTo>
                  <a:cubicBezTo>
                    <a:pt x="6949440" y="7399782"/>
                    <a:pt x="6851142" y="7498080"/>
                    <a:pt x="6729984" y="7498080"/>
                  </a:cubicBezTo>
                  <a:lnTo>
                    <a:pt x="219456" y="7498080"/>
                  </a:lnTo>
                  <a:cubicBezTo>
                    <a:pt x="98298" y="7498080"/>
                    <a:pt x="0" y="7399782"/>
                    <a:pt x="0" y="7278624"/>
                  </a:cubicBezTo>
                  <a:close/>
                </a:path>
              </a:pathLst>
            </a:custGeom>
            <a:solidFill>
              <a:srgbClr val="0D2137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200900" y="3634740"/>
            <a:ext cx="960120" cy="960120"/>
            <a:chOff x="0" y="0"/>
            <a:chExt cx="1280160" cy="12801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0BCD4">
                <a:alpha val="3137"/>
              </a:srgbClr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7200900" y="3634740"/>
            <a:ext cx="960120" cy="960120"/>
            <a:chOff x="0" y="0"/>
            <a:chExt cx="1280160" cy="12801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200900" y="4869180"/>
            <a:ext cx="4251960" cy="1097280"/>
            <a:chOff x="0" y="0"/>
            <a:chExt cx="5669280" cy="14630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5669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Distribuidor / Proveedor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200900" y="6103620"/>
            <a:ext cx="4251960" cy="2331720"/>
            <a:chOff x="0" y="0"/>
            <a:chExt cx="5669280" cy="31089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6692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04775"/>
              <a:ext cx="5669280" cy="3213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Publica su catálogo, precios por volumen, y gana visibilidad y estadísticas de venta.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481560" y="3154680"/>
            <a:ext cx="5212080" cy="5623560"/>
            <a:chOff x="0" y="0"/>
            <a:chExt cx="6949440" cy="7498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0" cy="7498080"/>
            </a:xfrm>
            <a:custGeom>
              <a:avLst/>
              <a:gdLst/>
              <a:ahLst/>
              <a:cxnLst/>
              <a:rect r="r" b="b" t="t" l="l"/>
              <a:pathLst>
                <a:path h="7498080" w="69494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29984" y="0"/>
                  </a:lnTo>
                  <a:cubicBezTo>
                    <a:pt x="6851142" y="0"/>
                    <a:pt x="6949440" y="98298"/>
                    <a:pt x="6949440" y="219456"/>
                  </a:cubicBezTo>
                  <a:lnTo>
                    <a:pt x="6949440" y="7278624"/>
                  </a:lnTo>
                  <a:cubicBezTo>
                    <a:pt x="6949440" y="7399782"/>
                    <a:pt x="6851142" y="7498080"/>
                    <a:pt x="6729984" y="7498080"/>
                  </a:cubicBezTo>
                  <a:lnTo>
                    <a:pt x="219456" y="7498080"/>
                  </a:lnTo>
                  <a:cubicBezTo>
                    <a:pt x="98298" y="7498080"/>
                    <a:pt x="0" y="7399782"/>
                    <a:pt x="0" y="7278624"/>
                  </a:cubicBezTo>
                  <a:close/>
                </a:path>
              </a:pathLst>
            </a:custGeom>
            <a:solidFill>
              <a:srgbClr val="0D3D5C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961620" y="3634740"/>
            <a:ext cx="960120" cy="960120"/>
            <a:chOff x="0" y="0"/>
            <a:chExt cx="1280160" cy="12801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640080"/>
                  </a:moveTo>
                  <a:cubicBezTo>
                    <a:pt x="0" y="286512"/>
                    <a:pt x="286512" y="0"/>
                    <a:pt x="640080" y="0"/>
                  </a:cubicBezTo>
                  <a:cubicBezTo>
                    <a:pt x="993648" y="0"/>
                    <a:pt x="1280160" y="286512"/>
                    <a:pt x="1280160" y="640080"/>
                  </a:cubicBezTo>
                  <a:cubicBezTo>
                    <a:pt x="1280160" y="993648"/>
                    <a:pt x="993648" y="1280160"/>
                    <a:pt x="640080" y="1280160"/>
                  </a:cubicBezTo>
                  <a:cubicBezTo>
                    <a:pt x="286512" y="1280160"/>
                    <a:pt x="0" y="993648"/>
                    <a:pt x="0" y="640080"/>
                  </a:cubicBezTo>
                  <a:close/>
                </a:path>
              </a:pathLst>
            </a:custGeom>
            <a:solidFill>
              <a:srgbClr val="00BCD4">
                <a:alpha val="3137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961620" y="3634740"/>
            <a:ext cx="960120" cy="960120"/>
            <a:chOff x="0" y="0"/>
            <a:chExt cx="1280160" cy="12801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280160" cy="1280160"/>
            </a:xfrm>
            <a:custGeom>
              <a:avLst/>
              <a:gdLst/>
              <a:ahLst/>
              <a:cxnLst/>
              <a:rect r="r" b="b" t="t" l="l"/>
              <a:pathLst>
                <a:path h="1280160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28016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961620" y="4869180"/>
            <a:ext cx="4251960" cy="1097280"/>
            <a:chOff x="0" y="0"/>
            <a:chExt cx="566928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6692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504" r="0" b="-2550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5669280" cy="14820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b="true" sz="27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Administrador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961620" y="6103620"/>
            <a:ext cx="4251960" cy="2331720"/>
            <a:chOff x="0" y="0"/>
            <a:chExt cx="5669280" cy="3108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69280" cy="3108960"/>
            </a:xfrm>
            <a:custGeom>
              <a:avLst/>
              <a:gdLst/>
              <a:ahLst/>
              <a:cxnLst/>
              <a:rect r="r" b="b" t="t" l="l"/>
              <a:pathLst>
                <a:path h="3108960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360" t="0" r="-20360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04775"/>
              <a:ext cx="5669280" cy="3213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39"/>
                </a:lnSpc>
              </a:pPr>
              <a:r>
                <a:rPr lang="en-US" sz="224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Aprueba distribuidores, gestiona categorías y supervisa las métricas globales de la plataforma.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3444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Qué buscamos lograr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82980" y="2529459"/>
            <a:ext cx="16322040" cy="1851660"/>
            <a:chOff x="0" y="0"/>
            <a:chExt cx="21762720" cy="24688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762720" cy="2468880"/>
            </a:xfrm>
            <a:custGeom>
              <a:avLst/>
              <a:gdLst/>
              <a:ahLst/>
              <a:cxnLst/>
              <a:rect r="r" b="b" t="t" l="l"/>
              <a:pathLst>
                <a:path h="2468880" w="21762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579839" y="0"/>
                  </a:lnTo>
                  <a:cubicBezTo>
                    <a:pt x="21680804" y="0"/>
                    <a:pt x="21762720" y="81915"/>
                    <a:pt x="21762720" y="182880"/>
                  </a:cubicBezTo>
                  <a:lnTo>
                    <a:pt x="21762720" y="2286000"/>
                  </a:lnTo>
                  <a:cubicBezTo>
                    <a:pt x="21762720" y="2386965"/>
                    <a:pt x="21680804" y="2468880"/>
                    <a:pt x="21579839" y="2468880"/>
                  </a:cubicBezTo>
                  <a:lnTo>
                    <a:pt x="182880" y="2468880"/>
                  </a:lnTo>
                  <a:cubicBezTo>
                    <a:pt x="81915" y="2468880"/>
                    <a:pt x="0" y="2386965"/>
                    <a:pt x="0" y="2286000"/>
                  </a:cubicBezTo>
                  <a:close/>
                </a:path>
              </a:pathLst>
            </a:custGeom>
            <a:solidFill>
              <a:srgbClr val="004D5A"/>
            </a:solidFill>
            <a:ln w="28575" cap="sq">
              <a:solidFill>
                <a:srgbClr val="CFE3E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394460" y="2735199"/>
            <a:ext cx="5486400" cy="411480"/>
            <a:chOff x="0" y="0"/>
            <a:chExt cx="7315200" cy="5486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315200" cy="5772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GENERAL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94460" y="3146679"/>
            <a:ext cx="15499080" cy="1165860"/>
            <a:chOff x="0" y="0"/>
            <a:chExt cx="20665440" cy="15544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0665439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9036" r="0" b="-209036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85725"/>
              <a:ext cx="2066544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35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Diseñar e implementar Cotizapp: un ecommerce centralizado que permita a pymes del rubro alimenticio cotizar, comparar y comprar productos de múltiples distribuidores en una sola transacción.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60120" y="5362956"/>
            <a:ext cx="192024" cy="192024"/>
            <a:chOff x="0" y="0"/>
            <a:chExt cx="256032" cy="25603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371600" y="5170932"/>
            <a:ext cx="7475220" cy="1028700"/>
            <a:chOff x="0" y="0"/>
            <a:chExt cx="9966960" cy="1371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966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76200"/>
              <a:ext cx="996696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Modelar la BDD (MySQL) con</a:t>
              </a:r>
              <a:r>
                <a:rPr lang="en-US" sz="2199" b="true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catálogo multi-distribuidor y precios por volumen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95460" y="5362956"/>
            <a:ext cx="192024" cy="192024"/>
            <a:chOff x="0" y="0"/>
            <a:chExt cx="256032" cy="2560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784080" y="5009769"/>
            <a:ext cx="7475220" cy="1028700"/>
            <a:chOff x="0" y="0"/>
            <a:chExt cx="9966960" cy="1371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66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996696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Panel web (Angular + Node.js) para que el distribuidor </a:t>
              </a:r>
              <a:r>
                <a:rPr lang="en-US" sz="2199" b="true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gestione su catálogo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0120" y="6665976"/>
            <a:ext cx="192024" cy="192024"/>
            <a:chOff x="0" y="0"/>
            <a:chExt cx="256032" cy="2560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71600" y="6247638"/>
            <a:ext cx="7475220" cy="1028700"/>
            <a:chOff x="0" y="0"/>
            <a:chExt cx="9966960" cy="1371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66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76200"/>
              <a:ext cx="996696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Catálogo y</a:t>
              </a:r>
              <a:r>
                <a:rPr lang="en-US" sz="2199" b="true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comparador de productos</a:t>
              </a: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con filtros para el cliente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395460" y="6665976"/>
            <a:ext cx="192024" cy="192024"/>
            <a:chOff x="0" y="0"/>
            <a:chExt cx="256032" cy="25603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784080" y="6247638"/>
            <a:ext cx="7475220" cy="1028700"/>
            <a:chOff x="0" y="0"/>
            <a:chExt cx="9966960" cy="1371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966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76200"/>
              <a:ext cx="996696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Carrito multiproveedor con checkout único vía </a:t>
              </a:r>
              <a:r>
                <a:rPr lang="en-US" sz="2199" b="true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Webpay/MercadoPago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60120" y="7968996"/>
            <a:ext cx="192024" cy="192024"/>
            <a:chOff x="0" y="0"/>
            <a:chExt cx="256032" cy="25603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71600" y="7646670"/>
            <a:ext cx="7475220" cy="1028700"/>
            <a:chOff x="0" y="0"/>
            <a:chExt cx="9966960" cy="1371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9966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76200"/>
              <a:ext cx="996696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Reparto simulado del pago y </a:t>
              </a:r>
              <a:r>
                <a:rPr lang="en-US" sz="2199" b="true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detalle de compra consolidado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395460" y="7968996"/>
            <a:ext cx="192024" cy="192024"/>
            <a:chOff x="0" y="0"/>
            <a:chExt cx="256032" cy="2560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6032" cy="256032"/>
            </a:xfrm>
            <a:custGeom>
              <a:avLst/>
              <a:gdLst/>
              <a:ahLst/>
              <a:cxnLst/>
              <a:rect r="r" b="b" t="t" l="l"/>
              <a:pathLst>
                <a:path h="256032" w="256032">
                  <a:moveTo>
                    <a:pt x="0" y="128016"/>
                  </a:moveTo>
                  <a:cubicBezTo>
                    <a:pt x="0" y="57277"/>
                    <a:pt x="57277" y="0"/>
                    <a:pt x="128016" y="0"/>
                  </a:cubicBezTo>
                  <a:cubicBezTo>
                    <a:pt x="198755" y="0"/>
                    <a:pt x="256032" y="57277"/>
                    <a:pt x="256032" y="128016"/>
                  </a:cubicBezTo>
                  <a:cubicBezTo>
                    <a:pt x="256032" y="198755"/>
                    <a:pt x="198755" y="256032"/>
                    <a:pt x="128016" y="256032"/>
                  </a:cubicBezTo>
                  <a:cubicBezTo>
                    <a:pt x="57277" y="256032"/>
                    <a:pt x="0" y="198755"/>
                    <a:pt x="0" y="128016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784080" y="7550658"/>
            <a:ext cx="7475220" cy="1028700"/>
            <a:chOff x="0" y="0"/>
            <a:chExt cx="9966960" cy="1371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9669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1591" r="0" b="-9159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76200"/>
              <a:ext cx="9966960" cy="14478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03"/>
                </a:lnSpc>
              </a:pPr>
              <a:r>
                <a:rPr lang="en-US" sz="21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 móvil (Flutter) con </a:t>
              </a:r>
              <a:r>
                <a:rPr lang="en-US" sz="2199" b="true">
                  <a:solidFill>
                    <a:srgbClr val="FFDE5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estadísticas de venta para el distribuidor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ALCANCE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3444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Decisiones de alcance del MVP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017520"/>
            <a:ext cx="7818120" cy="2948940"/>
            <a:chOff x="0" y="0"/>
            <a:chExt cx="10424160" cy="39319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241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3749040"/>
                  </a:lnTo>
                  <a:cubicBezTo>
                    <a:pt x="10424160" y="3850005"/>
                    <a:pt x="10342245" y="3931920"/>
                    <a:pt x="1024128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20334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3017520"/>
            <a:ext cx="1920240" cy="2948940"/>
            <a:chOff x="0" y="0"/>
            <a:chExt cx="2560320" cy="39319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60320" cy="3931920"/>
            </a:xfrm>
            <a:custGeom>
              <a:avLst/>
              <a:gdLst/>
              <a:ahLst/>
              <a:cxnLst/>
              <a:rect r="r" b="b" t="t" l="l"/>
              <a:pathLst>
                <a:path h="3931920" w="2560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377440" y="0"/>
                  </a:lnTo>
                  <a:cubicBezTo>
                    <a:pt x="2478405" y="0"/>
                    <a:pt x="2560320" y="81915"/>
                    <a:pt x="2560320" y="182880"/>
                  </a:cubicBezTo>
                  <a:lnTo>
                    <a:pt x="2560320" y="3749040"/>
                  </a:lnTo>
                  <a:cubicBezTo>
                    <a:pt x="2560320" y="3850005"/>
                    <a:pt x="2478405" y="3931920"/>
                    <a:pt x="237744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3223260"/>
            <a:ext cx="1920240" cy="2537460"/>
            <a:chOff x="0" y="0"/>
            <a:chExt cx="2560320" cy="3383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0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544" t="0" r="-11954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2560320" cy="3402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Rubro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223260" y="3360420"/>
            <a:ext cx="5212080" cy="2263140"/>
            <a:chOff x="0" y="0"/>
            <a:chExt cx="6949440" cy="3017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49440" cy="3017520"/>
            </a:xfrm>
            <a:custGeom>
              <a:avLst/>
              <a:gdLst/>
              <a:ahLst/>
              <a:cxnLst/>
              <a:rect r="r" b="b" t="t" l="l"/>
              <a:pathLst>
                <a:path h="3017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10" t="0" r="-571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85725"/>
              <a:ext cx="6949440" cy="3103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b="true" sz="227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Productos alimenticios (abarrotes e insumos), sin descartar expandir a otros nichos más adelante.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464040" y="3017520"/>
            <a:ext cx="7818120" cy="2948940"/>
            <a:chOff x="0" y="0"/>
            <a:chExt cx="10424160" cy="393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4241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3749040"/>
                  </a:lnTo>
                  <a:cubicBezTo>
                    <a:pt x="10424160" y="3850005"/>
                    <a:pt x="10342245" y="3931920"/>
                    <a:pt x="1024128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20334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9464040" y="3017520"/>
            <a:ext cx="1920240" cy="2948940"/>
            <a:chOff x="0" y="0"/>
            <a:chExt cx="2560320" cy="39319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560320" cy="3931920"/>
            </a:xfrm>
            <a:custGeom>
              <a:avLst/>
              <a:gdLst/>
              <a:ahLst/>
              <a:cxnLst/>
              <a:rect r="r" b="b" t="t" l="l"/>
              <a:pathLst>
                <a:path h="3931920" w="2560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377440" y="0"/>
                  </a:lnTo>
                  <a:cubicBezTo>
                    <a:pt x="2478405" y="0"/>
                    <a:pt x="2560320" y="81915"/>
                    <a:pt x="2560320" y="182880"/>
                  </a:cubicBezTo>
                  <a:lnTo>
                    <a:pt x="2560320" y="3749040"/>
                  </a:lnTo>
                  <a:cubicBezTo>
                    <a:pt x="2560320" y="3850005"/>
                    <a:pt x="2478405" y="3931920"/>
                    <a:pt x="237744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64040" y="3223260"/>
            <a:ext cx="1920240" cy="2537460"/>
            <a:chOff x="0" y="0"/>
            <a:chExt cx="2560320" cy="3383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60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544" t="0" r="-11954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560320" cy="3402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Pago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727180" y="3360420"/>
            <a:ext cx="5212080" cy="2263140"/>
            <a:chOff x="0" y="0"/>
            <a:chExt cx="6949440" cy="30175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49440" cy="3017520"/>
            </a:xfrm>
            <a:custGeom>
              <a:avLst/>
              <a:gdLst/>
              <a:ahLst/>
              <a:cxnLst/>
              <a:rect r="r" b="b" t="t" l="l"/>
              <a:pathLst>
                <a:path h="3017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10" t="0" r="-571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85725"/>
              <a:ext cx="6949440" cy="3103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b="true" sz="227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Pasarela real Webpay / MercadoPago (sandbox), con reparto (split) del monto simulado en base de datos propia.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60120" y="6377940"/>
            <a:ext cx="7818120" cy="2948940"/>
            <a:chOff x="0" y="0"/>
            <a:chExt cx="10424160" cy="393192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4241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3749040"/>
                  </a:lnTo>
                  <a:cubicBezTo>
                    <a:pt x="10424160" y="3850005"/>
                    <a:pt x="10342245" y="3931920"/>
                    <a:pt x="1024128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20334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960120" y="6377940"/>
            <a:ext cx="1920240" cy="2948940"/>
            <a:chOff x="0" y="0"/>
            <a:chExt cx="2560320" cy="39319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560320" cy="3931920"/>
            </a:xfrm>
            <a:custGeom>
              <a:avLst/>
              <a:gdLst/>
              <a:ahLst/>
              <a:cxnLst/>
              <a:rect r="r" b="b" t="t" l="l"/>
              <a:pathLst>
                <a:path h="3931920" w="2560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377440" y="0"/>
                  </a:lnTo>
                  <a:cubicBezTo>
                    <a:pt x="2478405" y="0"/>
                    <a:pt x="2560320" y="81915"/>
                    <a:pt x="2560320" y="182880"/>
                  </a:cubicBezTo>
                  <a:lnTo>
                    <a:pt x="2560320" y="3749040"/>
                  </a:lnTo>
                  <a:cubicBezTo>
                    <a:pt x="2560320" y="3850005"/>
                    <a:pt x="2478405" y="3931920"/>
                    <a:pt x="237744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960120" y="6583680"/>
            <a:ext cx="1920240" cy="2537460"/>
            <a:chOff x="0" y="0"/>
            <a:chExt cx="2560320" cy="3383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560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544" t="0" r="-119543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2560320" cy="3402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Comprobante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223260" y="6720840"/>
            <a:ext cx="5212080" cy="2263140"/>
            <a:chOff x="0" y="0"/>
            <a:chExt cx="6949440" cy="3017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9440" cy="3017520"/>
            </a:xfrm>
            <a:custGeom>
              <a:avLst/>
              <a:gdLst/>
              <a:ahLst/>
              <a:cxnLst/>
              <a:rect r="r" b="b" t="t" l="l"/>
              <a:pathLst>
                <a:path h="3017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10" t="0" r="-5710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6949440" cy="3103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b="true" sz="227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Detalle de compra consolidado para el cliente; cada distribuidor sigue emitiendo su propio documento tributario.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464040" y="6377940"/>
            <a:ext cx="7818120" cy="2948940"/>
            <a:chOff x="0" y="0"/>
            <a:chExt cx="10424160" cy="3931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42416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042416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241280" y="0"/>
                  </a:lnTo>
                  <a:cubicBezTo>
                    <a:pt x="10342245" y="0"/>
                    <a:pt x="10424160" y="81915"/>
                    <a:pt x="10424160" y="182880"/>
                  </a:cubicBezTo>
                  <a:lnTo>
                    <a:pt x="10424160" y="3749040"/>
                  </a:lnTo>
                  <a:cubicBezTo>
                    <a:pt x="10424160" y="3850005"/>
                    <a:pt x="10342245" y="3931920"/>
                    <a:pt x="1024128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203349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9464040" y="6377940"/>
            <a:ext cx="1920240" cy="2948940"/>
            <a:chOff x="0" y="0"/>
            <a:chExt cx="2560320" cy="3931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60320" cy="3931920"/>
            </a:xfrm>
            <a:custGeom>
              <a:avLst/>
              <a:gdLst/>
              <a:ahLst/>
              <a:cxnLst/>
              <a:rect r="r" b="b" t="t" l="l"/>
              <a:pathLst>
                <a:path h="3931920" w="2560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377440" y="0"/>
                  </a:lnTo>
                  <a:cubicBezTo>
                    <a:pt x="2478405" y="0"/>
                    <a:pt x="2560320" y="81915"/>
                    <a:pt x="2560320" y="182880"/>
                  </a:cubicBezTo>
                  <a:lnTo>
                    <a:pt x="2560320" y="3749040"/>
                  </a:lnTo>
                  <a:cubicBezTo>
                    <a:pt x="2560320" y="3850005"/>
                    <a:pt x="2478405" y="3931920"/>
                    <a:pt x="237744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464040" y="6583680"/>
            <a:ext cx="1920240" cy="2537460"/>
            <a:chOff x="0" y="0"/>
            <a:chExt cx="2560320" cy="3383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560320" cy="3383280"/>
            </a:xfrm>
            <a:custGeom>
              <a:avLst/>
              <a:gdLst/>
              <a:ahLst/>
              <a:cxnLst/>
              <a:rect r="r" b="b" t="t" l="l"/>
              <a:pathLst>
                <a:path h="33832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3383280"/>
                  </a:lnTo>
                  <a:lnTo>
                    <a:pt x="0" y="3383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9544" t="0" r="-11954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9050"/>
              <a:ext cx="2560320" cy="34023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App móvil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1727180" y="6720840"/>
            <a:ext cx="5212080" cy="2263140"/>
            <a:chOff x="0" y="0"/>
            <a:chExt cx="6949440" cy="301752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9440" cy="3017520"/>
            </a:xfrm>
            <a:custGeom>
              <a:avLst/>
              <a:gdLst/>
              <a:ahLst/>
              <a:cxnLst/>
              <a:rect r="r" b="b" t="t" l="l"/>
              <a:pathLst>
                <a:path h="3017520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3017520"/>
                  </a:lnTo>
                  <a:lnTo>
                    <a:pt x="0" y="3017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710" t="0" r="-5710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85725"/>
              <a:ext cx="6949440" cy="3103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39"/>
                </a:lnSpc>
              </a:pPr>
              <a:r>
                <a:rPr lang="en-US" b="true" sz="227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Flutter, exclusiva para distribuidores: visitas, estadísticas de venta y calificaciones.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8" y="-19820"/>
            <a:ext cx="18274752" cy="10262547"/>
          </a:xfrm>
          <a:custGeom>
            <a:avLst/>
            <a:gdLst/>
            <a:ahLst/>
            <a:cxnLst/>
            <a:rect r="r" b="b" t="t" l="l"/>
            <a:pathLst>
              <a:path h="10262547" w="18274752">
                <a:moveTo>
                  <a:pt x="0" y="0"/>
                </a:moveTo>
                <a:lnTo>
                  <a:pt x="18274752" y="0"/>
                </a:lnTo>
                <a:lnTo>
                  <a:pt x="18274752" y="10262546"/>
                </a:lnTo>
                <a:lnTo>
                  <a:pt x="0" y="10262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0120" y="478155"/>
            <a:ext cx="10972800" cy="480060"/>
            <a:chOff x="0" y="0"/>
            <a:chExt cx="14630400" cy="640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DISEÑO TÉCNICO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120" y="666750"/>
            <a:ext cx="16322040" cy="1234440"/>
            <a:chOff x="0" y="0"/>
            <a:chExt cx="2176272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4F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Arquitectura del sistema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80160" y="2091690"/>
            <a:ext cx="4663440" cy="1097280"/>
            <a:chOff x="0" y="0"/>
            <a:chExt cx="6217920" cy="146304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21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217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071616" y="0"/>
                  </a:lnTo>
                  <a:cubicBezTo>
                    <a:pt x="6152388" y="0"/>
                    <a:pt x="6217920" y="65532"/>
                    <a:pt x="6217920" y="146304"/>
                  </a:cubicBezTo>
                  <a:lnTo>
                    <a:pt x="6217920" y="1316736"/>
                  </a:lnTo>
                  <a:cubicBezTo>
                    <a:pt x="6217920" y="1397508"/>
                    <a:pt x="6152388" y="1463040"/>
                    <a:pt x="607161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04D5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280160" y="2160270"/>
            <a:ext cx="4663440" cy="480060"/>
            <a:chOff x="0" y="0"/>
            <a:chExt cx="6217920" cy="640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62179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Angular (web)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80160" y="2612898"/>
            <a:ext cx="4663440" cy="411480"/>
            <a:chOff x="0" y="0"/>
            <a:chExt cx="6217920" cy="5486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Clientes y distribuidores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766560" y="2091690"/>
            <a:ext cx="4663440" cy="1097280"/>
            <a:chOff x="0" y="0"/>
            <a:chExt cx="6217920" cy="14630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2179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62179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071616" y="0"/>
                  </a:lnTo>
                  <a:cubicBezTo>
                    <a:pt x="6152388" y="0"/>
                    <a:pt x="6217920" y="65532"/>
                    <a:pt x="6217920" y="146304"/>
                  </a:cubicBezTo>
                  <a:lnTo>
                    <a:pt x="6217920" y="1316736"/>
                  </a:lnTo>
                  <a:cubicBezTo>
                    <a:pt x="6217920" y="1397508"/>
                    <a:pt x="6152388" y="1463040"/>
                    <a:pt x="6071616" y="1463040"/>
                  </a:cubicBezTo>
                  <a:lnTo>
                    <a:pt x="146304" y="1463040"/>
                  </a:lnTo>
                  <a:cubicBezTo>
                    <a:pt x="65532" y="1463040"/>
                    <a:pt x="0" y="1397508"/>
                    <a:pt x="0" y="1316736"/>
                  </a:cubicBezTo>
                  <a:close/>
                </a:path>
              </a:pathLst>
            </a:custGeom>
            <a:solidFill>
              <a:srgbClr val="004D5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766560" y="2160270"/>
            <a:ext cx="4663440" cy="480060"/>
            <a:chOff x="0" y="0"/>
            <a:chExt cx="6217920" cy="640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0" cy="640080"/>
            </a:xfrm>
            <a:custGeom>
              <a:avLst/>
              <a:gdLst/>
              <a:ahLst/>
              <a:cxnLst/>
              <a:rect r="r" b="b" t="t" l="l"/>
              <a:pathLst>
                <a:path h="64008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9283" r="0" b="-13928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6217920" cy="6496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Flutter (mobile)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766560" y="2612898"/>
            <a:ext cx="4663440" cy="411480"/>
            <a:chOff x="0" y="0"/>
            <a:chExt cx="6217920" cy="548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217920" cy="548640"/>
            </a:xfrm>
            <a:custGeom>
              <a:avLst/>
              <a:gdLst/>
              <a:ahLst/>
              <a:cxnLst/>
              <a:rect r="r" b="b" t="t" l="l"/>
              <a:pathLst>
                <a:path h="5486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0830" r="0" b="-17083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621792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9"/>
                </a:lnSpc>
              </a:pPr>
              <a:r>
                <a:rPr lang="en-US" sz="157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Distribuidores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59155" y="3590925"/>
            <a:ext cx="11129010" cy="4988736"/>
            <a:chOff x="0" y="0"/>
            <a:chExt cx="14838680" cy="665164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4838680" cy="6651649"/>
            </a:xfrm>
            <a:custGeom>
              <a:avLst/>
              <a:gdLst/>
              <a:ahLst/>
              <a:cxnLst/>
              <a:rect r="r" b="b" t="t" l="l"/>
              <a:pathLst>
                <a:path h="6651649" w="14838680">
                  <a:moveTo>
                    <a:pt x="0" y="224875"/>
                  </a:moveTo>
                  <a:cubicBezTo>
                    <a:pt x="0" y="100708"/>
                    <a:pt x="98679" y="0"/>
                    <a:pt x="220345" y="0"/>
                  </a:cubicBezTo>
                  <a:lnTo>
                    <a:pt x="14618336" y="0"/>
                  </a:lnTo>
                  <a:cubicBezTo>
                    <a:pt x="14740001" y="0"/>
                    <a:pt x="14838680" y="100708"/>
                    <a:pt x="14838680" y="224875"/>
                  </a:cubicBezTo>
                  <a:lnTo>
                    <a:pt x="14838680" y="6426773"/>
                  </a:lnTo>
                  <a:cubicBezTo>
                    <a:pt x="14838680" y="6550940"/>
                    <a:pt x="14740001" y="6651649"/>
                    <a:pt x="14618336" y="6651649"/>
                  </a:cubicBezTo>
                  <a:lnTo>
                    <a:pt x="220345" y="6651649"/>
                  </a:lnTo>
                  <a:cubicBezTo>
                    <a:pt x="98679" y="6651649"/>
                    <a:pt x="0" y="6550940"/>
                    <a:pt x="0" y="6426773"/>
                  </a:cubicBezTo>
                  <a:close/>
                </a:path>
              </a:pathLst>
            </a:custGeom>
            <a:solidFill>
              <a:srgbClr val="111D2E"/>
            </a:solidFill>
            <a:ln w="19050" cap="sq">
              <a:solidFill>
                <a:srgbClr val="00BCD4"/>
              </a:solidFill>
              <a:prstDash val="dash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71829" y="8063865"/>
            <a:ext cx="8229600" cy="515796"/>
            <a:chOff x="0" y="0"/>
            <a:chExt cx="10972800" cy="6877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87729"/>
            </a:xfrm>
            <a:custGeom>
              <a:avLst/>
              <a:gdLst/>
              <a:ahLst/>
              <a:cxnLst/>
              <a:rect r="r" b="b" t="t" l="l"/>
              <a:pathLst>
                <a:path h="687729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87729"/>
                  </a:lnTo>
                  <a:lnTo>
                    <a:pt x="0" y="6877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0998" r="0" b="-25077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10972800" cy="7067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2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INFRAESTRUCTURA — DIGITAL OCEAN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954780" y="4423410"/>
            <a:ext cx="4937760" cy="822960"/>
            <a:chOff x="0" y="0"/>
            <a:chExt cx="65836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437376" y="0"/>
                  </a:lnTo>
                  <a:cubicBezTo>
                    <a:pt x="6518148" y="0"/>
                    <a:pt x="6583680" y="65532"/>
                    <a:pt x="6583680" y="146304"/>
                  </a:cubicBezTo>
                  <a:lnTo>
                    <a:pt x="6583680" y="950976"/>
                  </a:lnTo>
                  <a:cubicBezTo>
                    <a:pt x="6583680" y="1031748"/>
                    <a:pt x="6518148" y="1097280"/>
                    <a:pt x="6437376" y="1097280"/>
                  </a:cubicBezTo>
                  <a:lnTo>
                    <a:pt x="146304" y="1097280"/>
                  </a:lnTo>
                  <a:cubicBezTo>
                    <a:pt x="65532" y="1097280"/>
                    <a:pt x="0" y="1031748"/>
                    <a:pt x="0" y="950976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954780" y="4423410"/>
            <a:ext cx="4937760" cy="822960"/>
            <a:chOff x="0" y="0"/>
            <a:chExt cx="6583680" cy="109728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583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9525"/>
              <a:ext cx="6583680" cy="1106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Nginx (reverse proxy)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680460" y="5520690"/>
            <a:ext cx="5486400" cy="1165860"/>
            <a:chOff x="0" y="0"/>
            <a:chExt cx="7315200" cy="15544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3152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7315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7168896" y="0"/>
                  </a:lnTo>
                  <a:cubicBezTo>
                    <a:pt x="7249668" y="0"/>
                    <a:pt x="7315200" y="65532"/>
                    <a:pt x="7315200" y="146304"/>
                  </a:cubicBezTo>
                  <a:lnTo>
                    <a:pt x="7315200" y="1408176"/>
                  </a:lnTo>
                  <a:cubicBezTo>
                    <a:pt x="7315200" y="1488948"/>
                    <a:pt x="7249668" y="1554480"/>
                    <a:pt x="7168896" y="1554480"/>
                  </a:cubicBezTo>
                  <a:lnTo>
                    <a:pt x="146304" y="1554480"/>
                  </a:lnTo>
                  <a:cubicBezTo>
                    <a:pt x="65532" y="1554480"/>
                    <a:pt x="0" y="1488948"/>
                    <a:pt x="0" y="1408176"/>
                  </a:cubicBezTo>
                  <a:close/>
                </a:path>
              </a:pathLst>
            </a:custGeom>
            <a:solidFill>
              <a:srgbClr val="004D5A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3680460" y="5616702"/>
            <a:ext cx="5486400" cy="480060"/>
            <a:chOff x="0" y="0"/>
            <a:chExt cx="7315200" cy="640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315200" cy="640080"/>
            </a:xfrm>
            <a:custGeom>
              <a:avLst/>
              <a:gdLst/>
              <a:ahLst/>
              <a:cxnLst/>
              <a:rect r="r" b="b" t="t" l="l"/>
              <a:pathLst>
                <a:path h="64008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31520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API REST (Node.js)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680460" y="6069330"/>
            <a:ext cx="5486400" cy="411480"/>
            <a:chOff x="0" y="0"/>
            <a:chExt cx="7315200" cy="5486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15200" cy="548640"/>
            </a:xfrm>
            <a:custGeom>
              <a:avLst/>
              <a:gdLst/>
              <a:ahLst/>
              <a:cxnLst/>
              <a:rect r="r" b="b" t="t" l="l"/>
              <a:pathLst>
                <a:path h="54864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CFE3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 · catálogo · pagos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954780" y="6960870"/>
            <a:ext cx="4937760" cy="960120"/>
            <a:chOff x="0" y="0"/>
            <a:chExt cx="6583680" cy="12801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5836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65836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6437376" y="0"/>
                  </a:lnTo>
                  <a:cubicBezTo>
                    <a:pt x="6518148" y="0"/>
                    <a:pt x="6583680" y="65532"/>
                    <a:pt x="6583680" y="146304"/>
                  </a:cubicBezTo>
                  <a:lnTo>
                    <a:pt x="6583680" y="1133856"/>
                  </a:lnTo>
                  <a:cubicBezTo>
                    <a:pt x="6583680" y="1214628"/>
                    <a:pt x="6518148" y="1280160"/>
                    <a:pt x="6437376" y="1280160"/>
                  </a:cubicBezTo>
                  <a:lnTo>
                    <a:pt x="146304" y="1280160"/>
                  </a:lnTo>
                  <a:cubicBezTo>
                    <a:pt x="65532" y="1280160"/>
                    <a:pt x="0" y="1214628"/>
                    <a:pt x="0" y="1133856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3954780" y="7029450"/>
            <a:ext cx="4937760" cy="411480"/>
            <a:chOff x="0" y="0"/>
            <a:chExt cx="6583680" cy="5486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658368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MySQL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3954780" y="7399782"/>
            <a:ext cx="4937760" cy="411480"/>
            <a:chOff x="0" y="0"/>
            <a:chExt cx="6583680" cy="5486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583680" cy="548640"/>
            </a:xfrm>
            <a:custGeom>
              <a:avLst/>
              <a:gdLst/>
              <a:ahLst/>
              <a:cxnLst/>
              <a:rect r="r" b="b" t="t" l="l"/>
              <a:pathLst>
                <a:path h="54864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65836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Catálogo, pedidos, usuarios</a:t>
              </a:r>
            </a:p>
          </p:txBody>
        </p:sp>
      </p:grpSp>
      <p:sp>
        <p:nvSpPr>
          <p:cNvPr name="AutoShape 51" id="51"/>
          <p:cNvSpPr/>
          <p:nvPr/>
        </p:nvSpPr>
        <p:spPr>
          <a:xfrm>
            <a:off x="3597596" y="3174682"/>
            <a:ext cx="1263017" cy="1263017"/>
          </a:xfrm>
          <a:prstGeom prst="line">
            <a:avLst/>
          </a:prstGeom>
          <a:ln cap="rnd" w="19050">
            <a:solidFill>
              <a:srgbClr val="00BC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>
            <a:off x="7572505" y="3174685"/>
            <a:ext cx="414207" cy="1248725"/>
          </a:xfrm>
          <a:prstGeom prst="line">
            <a:avLst/>
          </a:prstGeom>
          <a:ln cap="rnd" w="19050">
            <a:solidFill>
              <a:srgbClr val="00BC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6409369" y="5232083"/>
            <a:ext cx="28573" cy="302893"/>
          </a:xfrm>
          <a:prstGeom prst="line">
            <a:avLst/>
          </a:prstGeom>
          <a:ln cap="rnd" w="19050">
            <a:solidFill>
              <a:srgbClr val="00BCD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>
            <a:off x="6409369" y="6672263"/>
            <a:ext cx="28573" cy="302893"/>
          </a:xfrm>
          <a:prstGeom prst="line">
            <a:avLst/>
          </a:prstGeom>
          <a:ln cap="rnd" w="19050">
            <a:solidFill>
              <a:srgbClr val="00BC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5" id="55"/>
          <p:cNvGrpSpPr/>
          <p:nvPr/>
        </p:nvGrpSpPr>
        <p:grpSpPr>
          <a:xfrm rot="0">
            <a:off x="12733020" y="5520690"/>
            <a:ext cx="4526280" cy="1371600"/>
            <a:chOff x="0" y="0"/>
            <a:chExt cx="6035040" cy="182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035040" cy="1828800"/>
            </a:xfrm>
            <a:custGeom>
              <a:avLst/>
              <a:gdLst/>
              <a:ahLst/>
              <a:cxnLst/>
              <a:rect r="r" b="b" t="t" l="l"/>
              <a:pathLst>
                <a:path h="1828800" w="60350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852160" y="0"/>
                  </a:lnTo>
                  <a:cubicBezTo>
                    <a:pt x="5953125" y="0"/>
                    <a:pt x="6035040" y="81915"/>
                    <a:pt x="6035040" y="182880"/>
                  </a:cubicBezTo>
                  <a:lnTo>
                    <a:pt x="6035040" y="1645920"/>
                  </a:lnTo>
                  <a:cubicBezTo>
                    <a:pt x="6035040" y="1746885"/>
                    <a:pt x="5953125" y="1828800"/>
                    <a:pt x="5852160" y="1828800"/>
                  </a:cubicBezTo>
                  <a:lnTo>
                    <a:pt x="182880" y="1828800"/>
                  </a:lnTo>
                  <a:cubicBezTo>
                    <a:pt x="81915" y="1828800"/>
                    <a:pt x="0" y="1746885"/>
                    <a:pt x="0" y="1645920"/>
                  </a:cubicBezTo>
                  <a:close/>
                </a:path>
              </a:pathLst>
            </a:custGeom>
            <a:solidFill>
              <a:srgbClr val="E8734A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2733020" y="5657850"/>
            <a:ext cx="4526280" cy="480060"/>
            <a:chOff x="0" y="0"/>
            <a:chExt cx="6035040" cy="64008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035040" cy="640080"/>
            </a:xfrm>
            <a:custGeom>
              <a:avLst/>
              <a:gdLst/>
              <a:ahLst/>
              <a:cxnLst/>
              <a:rect r="r" b="b" t="t" l="l"/>
              <a:pathLst>
                <a:path h="64008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3716" r="0" b="-133716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6035040" cy="6400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Pasarela de pago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2733020" y="6137910"/>
            <a:ext cx="4526280" cy="411480"/>
            <a:chOff x="0" y="0"/>
            <a:chExt cx="6035040" cy="5486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35040" cy="548640"/>
            </a:xfrm>
            <a:custGeom>
              <a:avLst/>
              <a:gdLst/>
              <a:ahLst/>
              <a:cxnLst/>
              <a:rect r="r" b="b" t="t" l="l"/>
              <a:pathLst>
                <a:path h="548640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64335" r="0" b="-164335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38100"/>
              <a:ext cx="603504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00"/>
                </a:lnSpc>
              </a:pPr>
              <a:r>
                <a:rPr lang="en-US" sz="15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Webpay / MercadoPago</a:t>
              </a:r>
            </a:p>
          </p:txBody>
        </p:sp>
      </p:grpSp>
      <p:sp>
        <p:nvSpPr>
          <p:cNvPr name="AutoShape 63" id="63"/>
          <p:cNvSpPr/>
          <p:nvPr/>
        </p:nvSpPr>
        <p:spPr>
          <a:xfrm>
            <a:off x="9152577" y="6082480"/>
            <a:ext cx="3594735" cy="69713"/>
          </a:xfrm>
          <a:prstGeom prst="line">
            <a:avLst/>
          </a:prstGeom>
          <a:ln cap="rnd" w="19050">
            <a:solidFill>
              <a:srgbClr val="00BC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4" id="64"/>
          <p:cNvGrpSpPr/>
          <p:nvPr/>
        </p:nvGrpSpPr>
        <p:grpSpPr>
          <a:xfrm rot="0">
            <a:off x="960120" y="9122586"/>
            <a:ext cx="16322040" cy="548640"/>
            <a:chOff x="0" y="0"/>
            <a:chExt cx="21762720" cy="73152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09"/>
                </a:lnSpc>
              </a:pPr>
              <a:r>
                <a:rPr lang="en-US" b="true" sz="2174" i="true">
                  <a:solidFill>
                    <a:srgbClr val="111D2E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Un solo droplet con contenedores Docker (Nginx + API + MySQL); la pasarela de pago es un servicio externo consumido por la API.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48" y="-19820"/>
            <a:ext cx="18274752" cy="10262547"/>
          </a:xfrm>
          <a:custGeom>
            <a:avLst/>
            <a:gdLst/>
            <a:ahLst/>
            <a:cxnLst/>
            <a:rect r="r" b="b" t="t" l="l"/>
            <a:pathLst>
              <a:path h="10262547" w="18274752">
                <a:moveTo>
                  <a:pt x="0" y="0"/>
                </a:moveTo>
                <a:lnTo>
                  <a:pt x="18274752" y="0"/>
                </a:lnTo>
                <a:lnTo>
                  <a:pt x="18274752" y="10262546"/>
                </a:lnTo>
                <a:lnTo>
                  <a:pt x="0" y="102625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3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60120" y="754380"/>
            <a:ext cx="10972800" cy="480060"/>
            <a:chOff x="0" y="0"/>
            <a:chExt cx="14630400" cy="64008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SUSTENTO DEL PROYECTO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60120" y="1234440"/>
            <a:ext cx="16322040" cy="1234440"/>
            <a:chOff x="0" y="0"/>
            <a:chExt cx="21762720" cy="1645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4F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Factibilidad y viabilidad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0120" y="2948940"/>
            <a:ext cx="2331720" cy="795528"/>
            <a:chOff x="0" y="0"/>
            <a:chExt cx="3108960" cy="106070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914400"/>
                  </a:lnTo>
                  <a:cubicBezTo>
                    <a:pt x="3108960" y="995172"/>
                    <a:pt x="3043428" y="1060704"/>
                    <a:pt x="2962656" y="1060704"/>
                  </a:cubicBezTo>
                  <a:lnTo>
                    <a:pt x="146304" y="1060704"/>
                  </a:lnTo>
                  <a:cubicBezTo>
                    <a:pt x="65532" y="1060704"/>
                    <a:pt x="0" y="995172"/>
                    <a:pt x="0" y="914400"/>
                  </a:cubicBezTo>
                  <a:close/>
                </a:path>
              </a:pathLst>
            </a:custGeom>
            <a:solidFill>
              <a:srgbClr val="0B4F4A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60120" y="2948940"/>
            <a:ext cx="2331720" cy="795528"/>
            <a:chOff x="0" y="0"/>
            <a:chExt cx="3108960" cy="106070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11" r="0" b="-7111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310896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Técnica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566160" y="2921508"/>
            <a:ext cx="13716000" cy="850392"/>
            <a:chOff x="0" y="0"/>
            <a:chExt cx="18288000" cy="113385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828800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2"/>
                </a:lnSpc>
              </a:pPr>
              <a:r>
                <a:rPr lang="en-US" sz="1899" b="true">
                  <a:solidFill>
                    <a:srgbClr val="233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Stack ya dominado por el equipo (Angular, Node.js, MySQL, Flutter); arquitectura modular ajustada al tamaño del equipo, no microservicios.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60120" y="3936492"/>
            <a:ext cx="2331720" cy="795528"/>
            <a:chOff x="0" y="0"/>
            <a:chExt cx="3108960" cy="106070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914400"/>
                  </a:lnTo>
                  <a:cubicBezTo>
                    <a:pt x="3108960" y="995172"/>
                    <a:pt x="3043428" y="1060704"/>
                    <a:pt x="2962656" y="1060704"/>
                  </a:cubicBezTo>
                  <a:lnTo>
                    <a:pt x="146304" y="1060704"/>
                  </a:lnTo>
                  <a:cubicBezTo>
                    <a:pt x="65532" y="1060704"/>
                    <a:pt x="0" y="995172"/>
                    <a:pt x="0" y="914400"/>
                  </a:cubicBezTo>
                  <a:close/>
                </a:path>
              </a:pathLst>
            </a:custGeom>
            <a:solidFill>
              <a:srgbClr val="0B4F4A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60120" y="3936492"/>
            <a:ext cx="2331720" cy="795528"/>
            <a:chOff x="0" y="0"/>
            <a:chExt cx="3108960" cy="106070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11" r="0" b="-7111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310896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Económica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566160" y="3909060"/>
            <a:ext cx="13716000" cy="850392"/>
            <a:chOff x="0" y="0"/>
            <a:chExt cx="18288000" cy="11338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1828800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2"/>
                </a:lnSpc>
              </a:pPr>
              <a:r>
                <a:rPr lang="en-US" sz="1899" b="true">
                  <a:solidFill>
                    <a:srgbClr val="233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Recursos gratuitos o de bajo costo: cuentas sandbox de pago, MySQL Community, droplet de Digital Ocean (~US$6-12/mes) financiado por el equipo.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60120" y="4924044"/>
            <a:ext cx="2331720" cy="795528"/>
            <a:chOff x="0" y="0"/>
            <a:chExt cx="3108960" cy="106070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914400"/>
                  </a:lnTo>
                  <a:cubicBezTo>
                    <a:pt x="3108960" y="995172"/>
                    <a:pt x="3043428" y="1060704"/>
                    <a:pt x="2962656" y="1060704"/>
                  </a:cubicBezTo>
                  <a:lnTo>
                    <a:pt x="146304" y="1060704"/>
                  </a:lnTo>
                  <a:cubicBezTo>
                    <a:pt x="65532" y="1060704"/>
                    <a:pt x="0" y="995172"/>
                    <a:pt x="0" y="914400"/>
                  </a:cubicBezTo>
                  <a:close/>
                </a:path>
              </a:pathLst>
            </a:custGeom>
            <a:solidFill>
              <a:srgbClr val="0B4F4A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0120" y="4924044"/>
            <a:ext cx="2331720" cy="795528"/>
            <a:chOff x="0" y="0"/>
            <a:chExt cx="3108960" cy="106070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11" r="0" b="-711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310896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Operativa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3566160" y="4896612"/>
            <a:ext cx="13716000" cy="850392"/>
            <a:chOff x="0" y="0"/>
            <a:chExt cx="18288000" cy="11338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828800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2"/>
                </a:lnSpc>
              </a:pPr>
              <a:r>
                <a:rPr lang="en-US" sz="1899" b="true">
                  <a:solidFill>
                    <a:srgbClr val="233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Roles asignados por afinidad real (infra, BDD, frontend/backend); 18 semanas en 3 fases con tareas en paralelo según la Carta Gantt.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60120" y="5911596"/>
            <a:ext cx="2331720" cy="795528"/>
            <a:chOff x="0" y="0"/>
            <a:chExt cx="3108960" cy="106070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914400"/>
                  </a:lnTo>
                  <a:cubicBezTo>
                    <a:pt x="3108960" y="995172"/>
                    <a:pt x="3043428" y="1060704"/>
                    <a:pt x="2962656" y="1060704"/>
                  </a:cubicBezTo>
                  <a:lnTo>
                    <a:pt x="146304" y="1060704"/>
                  </a:lnTo>
                  <a:cubicBezTo>
                    <a:pt x="65532" y="1060704"/>
                    <a:pt x="0" y="995172"/>
                    <a:pt x="0" y="914400"/>
                  </a:cubicBezTo>
                  <a:close/>
                </a:path>
              </a:pathLst>
            </a:custGeom>
            <a:solidFill>
              <a:srgbClr val="0B4F4A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" y="5911596"/>
            <a:ext cx="2331720" cy="795528"/>
            <a:chOff x="0" y="0"/>
            <a:chExt cx="3108960" cy="106070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11" r="0" b="-7111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"/>
              <a:ext cx="310896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Legal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566160" y="5884164"/>
            <a:ext cx="13716000" cy="850392"/>
            <a:chOff x="0" y="0"/>
            <a:chExt cx="18288000" cy="113385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828800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2"/>
                </a:lnSpc>
              </a:pPr>
              <a:r>
                <a:rPr lang="en-US" sz="1899" b="true">
                  <a:solidFill>
                    <a:srgbClr val="233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Cada distribuidor emite su propio documento tributario; los datos de tarjeta nunca tocan el backend, van directo a la pasarela de pago.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60120" y="6899148"/>
            <a:ext cx="2331720" cy="795528"/>
            <a:chOff x="0" y="0"/>
            <a:chExt cx="3108960" cy="106070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2962656" y="0"/>
                  </a:lnTo>
                  <a:cubicBezTo>
                    <a:pt x="3043428" y="0"/>
                    <a:pt x="3108960" y="65532"/>
                    <a:pt x="3108960" y="146304"/>
                  </a:cubicBezTo>
                  <a:lnTo>
                    <a:pt x="3108960" y="914400"/>
                  </a:lnTo>
                  <a:cubicBezTo>
                    <a:pt x="3108960" y="995172"/>
                    <a:pt x="3043428" y="1060704"/>
                    <a:pt x="2962656" y="1060704"/>
                  </a:cubicBezTo>
                  <a:lnTo>
                    <a:pt x="146304" y="1060704"/>
                  </a:lnTo>
                  <a:cubicBezTo>
                    <a:pt x="65532" y="1060704"/>
                    <a:pt x="0" y="995172"/>
                    <a:pt x="0" y="914400"/>
                  </a:cubicBezTo>
                  <a:close/>
                </a:path>
              </a:pathLst>
            </a:custGeom>
            <a:solidFill>
              <a:srgbClr val="0B4F4A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960120" y="6899148"/>
            <a:ext cx="2331720" cy="795528"/>
            <a:chOff x="0" y="0"/>
            <a:chExt cx="3108960" cy="10607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108960" cy="1060704"/>
            </a:xfrm>
            <a:custGeom>
              <a:avLst/>
              <a:gdLst/>
              <a:ahLst/>
              <a:cxnLst/>
              <a:rect r="r" b="b" t="t" l="l"/>
              <a:pathLst>
                <a:path h="1060704" w="3108960">
                  <a:moveTo>
                    <a:pt x="0" y="0"/>
                  </a:moveTo>
                  <a:lnTo>
                    <a:pt x="3108960" y="0"/>
                  </a:lnTo>
                  <a:lnTo>
                    <a:pt x="3108960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111" r="0" b="-7111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108960" cy="107022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 alcance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3566160" y="6871716"/>
            <a:ext cx="13716000" cy="850392"/>
            <a:chOff x="0" y="0"/>
            <a:chExt cx="18288000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82880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64274" r="0" b="-264274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57150"/>
              <a:ext cx="18288000" cy="11910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62"/>
                </a:lnSpc>
              </a:pPr>
              <a:r>
                <a:rPr lang="en-US" sz="1899" b="true">
                  <a:solidFill>
                    <a:srgbClr val="233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MVP acotado a un rubro, pago simulado y sin logística propia: el tamaño del problema calza con el tamaño del equipo y el tiempo disponible.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60120" y="8023860"/>
            <a:ext cx="16322040" cy="1165860"/>
            <a:chOff x="0" y="0"/>
            <a:chExt cx="21762720" cy="15544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17627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17627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1579839" y="0"/>
                  </a:lnTo>
                  <a:cubicBezTo>
                    <a:pt x="21680804" y="0"/>
                    <a:pt x="21762720" y="81915"/>
                    <a:pt x="21762720" y="182880"/>
                  </a:cubicBezTo>
                  <a:lnTo>
                    <a:pt x="21762720" y="1371600"/>
                  </a:lnTo>
                  <a:cubicBezTo>
                    <a:pt x="21762720" y="1472565"/>
                    <a:pt x="21680804" y="1554480"/>
                    <a:pt x="21579839" y="1554480"/>
                  </a:cubicBezTo>
                  <a:lnTo>
                    <a:pt x="182880" y="1554480"/>
                  </a:lnTo>
                  <a:cubicBezTo>
                    <a:pt x="81915" y="1554480"/>
                    <a:pt x="0" y="1472565"/>
                    <a:pt x="0" y="1371600"/>
                  </a:cubicBezTo>
                  <a:close/>
                </a:path>
              </a:pathLst>
            </a:custGeom>
            <a:solidFill>
              <a:srgbClr val="BD3D10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371600" y="8161020"/>
            <a:ext cx="4114800" cy="411480"/>
            <a:chOff x="0" y="0"/>
            <a:chExt cx="54864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486400" cy="548640"/>
            </a:xfrm>
            <a:custGeom>
              <a:avLst/>
              <a:gdLst/>
              <a:ahLst/>
              <a:cxnLst/>
              <a:rect r="r" b="b" t="t" l="l"/>
              <a:pathLst>
                <a:path h="54864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5486400" cy="5676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b="true" sz="1575" spc="224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RIESGO RECONOCIDO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371600" y="8545068"/>
            <a:ext cx="15499080" cy="548640"/>
            <a:chOff x="0" y="0"/>
            <a:chExt cx="2066544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0665439" cy="731520"/>
            </a:xfrm>
            <a:custGeom>
              <a:avLst/>
              <a:gdLst/>
              <a:ahLst/>
              <a:cxnLst/>
              <a:rect r="r" b="b" t="t" l="l"/>
              <a:pathLst>
                <a:path h="731520" w="20665439">
                  <a:moveTo>
                    <a:pt x="0" y="0"/>
                  </a:moveTo>
                  <a:lnTo>
                    <a:pt x="20665439" y="0"/>
                  </a:lnTo>
                  <a:lnTo>
                    <a:pt x="206654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500452" r="0" b="-500452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57150"/>
              <a:ext cx="2066544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25"/>
                </a:lnSpc>
              </a:pPr>
              <a:r>
                <a:rPr lang="en-US" sz="1924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 integración con la pasarela de pago es el punto de mayor incertidumbre técnica — mitigado con entorno sandbox desde la semana 9 del proyecto.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07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CÓMO TRABAJAMOS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3444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sz="4800" b="true">
                  <a:solidFill>
                    <a:srgbClr val="0B4F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Metodología Kanban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086100"/>
            <a:ext cx="3909060" cy="5349240"/>
            <a:chOff x="0" y="0"/>
            <a:chExt cx="5212080" cy="71323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120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6949440"/>
                  </a:lnTo>
                  <a:cubicBezTo>
                    <a:pt x="5212080" y="7050405"/>
                    <a:pt x="5130165" y="7132320"/>
                    <a:pt x="5029200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960120" y="3086100"/>
            <a:ext cx="3909060" cy="754380"/>
            <a:chOff x="0" y="0"/>
            <a:chExt cx="5212080" cy="10058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822960"/>
                  </a:lnTo>
                  <a:cubicBezTo>
                    <a:pt x="5212080" y="923925"/>
                    <a:pt x="5130165" y="1005840"/>
                    <a:pt x="502920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1A3A5C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60120" y="3086100"/>
            <a:ext cx="3909060" cy="754380"/>
            <a:chOff x="0" y="0"/>
            <a:chExt cx="5212080" cy="10058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AD3B3B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521208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Por hacer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27296" y="4176236"/>
            <a:ext cx="3374708" cy="905827"/>
            <a:chOff x="0" y="0"/>
            <a:chExt cx="4499610" cy="120777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99610" cy="1207770"/>
            </a:xfrm>
            <a:custGeom>
              <a:avLst/>
              <a:gdLst/>
              <a:ahLst/>
              <a:cxnLst/>
              <a:rect r="r" b="b" t="t" l="l"/>
              <a:pathLst>
                <a:path h="1207770" w="449961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4388104" y="0"/>
                  </a:lnTo>
                  <a:cubicBezTo>
                    <a:pt x="4449699" y="0"/>
                    <a:pt x="4499610" y="49911"/>
                    <a:pt x="4499610" y="111506"/>
                  </a:cubicBezTo>
                  <a:lnTo>
                    <a:pt x="4499610" y="1096264"/>
                  </a:lnTo>
                  <a:cubicBezTo>
                    <a:pt x="4499610" y="1157859"/>
                    <a:pt x="4449699" y="1207770"/>
                    <a:pt x="438810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AD3B3B"/>
            </a:solidFill>
            <a:ln w="14288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440180" y="4183380"/>
            <a:ext cx="2948940" cy="891540"/>
            <a:chOff x="0" y="0"/>
            <a:chExt cx="3931920" cy="11887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931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393192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Casos de uso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7296" y="5342096"/>
            <a:ext cx="3374708" cy="905827"/>
            <a:chOff x="0" y="0"/>
            <a:chExt cx="4499610" cy="12077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4499610" cy="1207770"/>
            </a:xfrm>
            <a:custGeom>
              <a:avLst/>
              <a:gdLst/>
              <a:ahLst/>
              <a:cxnLst/>
              <a:rect r="r" b="b" t="t" l="l"/>
              <a:pathLst>
                <a:path h="1207770" w="449961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4388104" y="0"/>
                  </a:lnTo>
                  <a:cubicBezTo>
                    <a:pt x="4449699" y="0"/>
                    <a:pt x="4499610" y="49911"/>
                    <a:pt x="4499610" y="111506"/>
                  </a:cubicBezTo>
                  <a:lnTo>
                    <a:pt x="4499610" y="1096264"/>
                  </a:lnTo>
                  <a:cubicBezTo>
                    <a:pt x="4499610" y="1157859"/>
                    <a:pt x="4449699" y="1207770"/>
                    <a:pt x="438810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AD3B3B"/>
            </a:solidFill>
            <a:ln w="14288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440180" y="5349240"/>
            <a:ext cx="2948940" cy="891540"/>
            <a:chOff x="0" y="0"/>
            <a:chExt cx="3931920" cy="11887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931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393192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Modelo BDD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27296" y="6507956"/>
            <a:ext cx="3374708" cy="905827"/>
            <a:chOff x="0" y="0"/>
            <a:chExt cx="4499610" cy="120777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99610" cy="1207770"/>
            </a:xfrm>
            <a:custGeom>
              <a:avLst/>
              <a:gdLst/>
              <a:ahLst/>
              <a:cxnLst/>
              <a:rect r="r" b="b" t="t" l="l"/>
              <a:pathLst>
                <a:path h="1207770" w="449961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4388104" y="0"/>
                  </a:lnTo>
                  <a:cubicBezTo>
                    <a:pt x="4449699" y="0"/>
                    <a:pt x="4499610" y="49911"/>
                    <a:pt x="4499610" y="111506"/>
                  </a:cubicBezTo>
                  <a:lnTo>
                    <a:pt x="4499610" y="1096264"/>
                  </a:lnTo>
                  <a:cubicBezTo>
                    <a:pt x="4499610" y="1157859"/>
                    <a:pt x="4449699" y="1207770"/>
                    <a:pt x="438810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AD3B3B"/>
            </a:solidFill>
            <a:ln w="14288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40180" y="6515100"/>
            <a:ext cx="2948940" cy="891540"/>
            <a:chOff x="0" y="0"/>
            <a:chExt cx="393192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931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28575"/>
              <a:ext cx="393192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Mockups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212080" y="3086100"/>
            <a:ext cx="3909060" cy="5349240"/>
            <a:chOff x="0" y="0"/>
            <a:chExt cx="5212080" cy="713232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120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6949440"/>
                  </a:lnTo>
                  <a:cubicBezTo>
                    <a:pt x="5212080" y="7050405"/>
                    <a:pt x="5130165" y="7132320"/>
                    <a:pt x="5029200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5212080" y="3086100"/>
            <a:ext cx="3909060" cy="754380"/>
            <a:chOff x="0" y="0"/>
            <a:chExt cx="5212080" cy="10058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822960"/>
                  </a:lnTo>
                  <a:cubicBezTo>
                    <a:pt x="5212080" y="923925"/>
                    <a:pt x="5130165" y="1005840"/>
                    <a:pt x="502920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004D5A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5212080" y="3086100"/>
            <a:ext cx="3909060" cy="754380"/>
            <a:chOff x="0" y="0"/>
            <a:chExt cx="5212080" cy="10058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CDCC6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521208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 progreso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5479256" y="4176236"/>
            <a:ext cx="3374708" cy="905827"/>
            <a:chOff x="0" y="0"/>
            <a:chExt cx="4499610" cy="120777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499610" cy="1207770"/>
            </a:xfrm>
            <a:custGeom>
              <a:avLst/>
              <a:gdLst/>
              <a:ahLst/>
              <a:cxnLst/>
              <a:rect r="r" b="b" t="t" l="l"/>
              <a:pathLst>
                <a:path h="1207770" w="449961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4388104" y="0"/>
                  </a:lnTo>
                  <a:cubicBezTo>
                    <a:pt x="4449699" y="0"/>
                    <a:pt x="4499610" y="49911"/>
                    <a:pt x="4499610" y="111506"/>
                  </a:cubicBezTo>
                  <a:lnTo>
                    <a:pt x="4499610" y="1096264"/>
                  </a:lnTo>
                  <a:cubicBezTo>
                    <a:pt x="4499610" y="1157859"/>
                    <a:pt x="4449699" y="1207770"/>
                    <a:pt x="438810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CDCC6B"/>
            </a:solidFill>
            <a:ln w="14288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5692140" y="4183380"/>
            <a:ext cx="2948940" cy="891540"/>
            <a:chOff x="0" y="0"/>
            <a:chExt cx="3931920" cy="1188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31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28575"/>
              <a:ext cx="393192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33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catálogo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5479256" y="5342096"/>
            <a:ext cx="3374708" cy="905827"/>
            <a:chOff x="0" y="0"/>
            <a:chExt cx="4499610" cy="12077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99610" cy="1207770"/>
            </a:xfrm>
            <a:custGeom>
              <a:avLst/>
              <a:gdLst/>
              <a:ahLst/>
              <a:cxnLst/>
              <a:rect r="r" b="b" t="t" l="l"/>
              <a:pathLst>
                <a:path h="1207770" w="449961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4388104" y="0"/>
                  </a:lnTo>
                  <a:cubicBezTo>
                    <a:pt x="4449699" y="0"/>
                    <a:pt x="4499610" y="49911"/>
                    <a:pt x="4499610" y="111506"/>
                  </a:cubicBezTo>
                  <a:lnTo>
                    <a:pt x="4499610" y="1096264"/>
                  </a:lnTo>
                  <a:cubicBezTo>
                    <a:pt x="4499610" y="1157859"/>
                    <a:pt x="4449699" y="1207770"/>
                    <a:pt x="438810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CDCC6B"/>
            </a:solidFill>
            <a:ln w="14288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5692140" y="5349240"/>
            <a:ext cx="2948940" cy="891540"/>
            <a:chOff x="0" y="0"/>
            <a:chExt cx="3931920" cy="11887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31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28575"/>
              <a:ext cx="393192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2330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Angular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64040" y="3086100"/>
            <a:ext cx="3909060" cy="5349240"/>
            <a:chOff x="0" y="0"/>
            <a:chExt cx="5212080" cy="71323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2120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6949440"/>
                  </a:lnTo>
                  <a:cubicBezTo>
                    <a:pt x="5212080" y="7050405"/>
                    <a:pt x="5130165" y="7132320"/>
                    <a:pt x="5029200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464040" y="3086100"/>
            <a:ext cx="3909060" cy="754380"/>
            <a:chOff x="0" y="0"/>
            <a:chExt cx="5212080" cy="10058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822960"/>
                  </a:lnTo>
                  <a:cubicBezTo>
                    <a:pt x="5212080" y="923925"/>
                    <a:pt x="5130165" y="1005840"/>
                    <a:pt x="502920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0D3D5C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464040" y="3086100"/>
            <a:ext cx="3909060" cy="754380"/>
            <a:chOff x="0" y="0"/>
            <a:chExt cx="5212080" cy="10058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967" r="0" b="-5096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521208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En revisión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731216" y="4176236"/>
            <a:ext cx="3374708" cy="905827"/>
            <a:chOff x="0" y="0"/>
            <a:chExt cx="4499610" cy="120777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4499610" cy="1207770"/>
            </a:xfrm>
            <a:custGeom>
              <a:avLst/>
              <a:gdLst/>
              <a:ahLst/>
              <a:cxnLst/>
              <a:rect r="r" b="b" t="t" l="l"/>
              <a:pathLst>
                <a:path h="1207770" w="449961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4388104" y="0"/>
                  </a:lnTo>
                  <a:cubicBezTo>
                    <a:pt x="4449699" y="0"/>
                    <a:pt x="4499610" y="49911"/>
                    <a:pt x="4499610" y="111506"/>
                  </a:cubicBezTo>
                  <a:lnTo>
                    <a:pt x="4499610" y="1096264"/>
                  </a:lnTo>
                  <a:cubicBezTo>
                    <a:pt x="4499610" y="1157859"/>
                    <a:pt x="4449699" y="1207770"/>
                    <a:pt x="438810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0D3D5C"/>
            </a:solidFill>
            <a:ln w="14288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944100" y="4183380"/>
            <a:ext cx="2948940" cy="891540"/>
            <a:chOff x="0" y="0"/>
            <a:chExt cx="3931920" cy="11887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931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28575"/>
              <a:ext cx="393192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Integración de pago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716000" y="3086100"/>
            <a:ext cx="3909060" cy="5349240"/>
            <a:chOff x="0" y="0"/>
            <a:chExt cx="5212080" cy="71323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5212080" cy="7132320"/>
            </a:xfrm>
            <a:custGeom>
              <a:avLst/>
              <a:gdLst/>
              <a:ahLst/>
              <a:cxnLst/>
              <a:rect r="r" b="b" t="t" l="l"/>
              <a:pathLst>
                <a:path h="713232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6949440"/>
                  </a:lnTo>
                  <a:cubicBezTo>
                    <a:pt x="5212080" y="7050405"/>
                    <a:pt x="5130165" y="7132320"/>
                    <a:pt x="5029200" y="7132320"/>
                  </a:cubicBezTo>
                  <a:lnTo>
                    <a:pt x="182880" y="7132320"/>
                  </a:lnTo>
                  <a:cubicBezTo>
                    <a:pt x="81915" y="7132320"/>
                    <a:pt x="0" y="7050405"/>
                    <a:pt x="0" y="694944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716000" y="3086100"/>
            <a:ext cx="3909060" cy="754380"/>
            <a:chOff x="0" y="0"/>
            <a:chExt cx="5212080" cy="100584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029200" y="0"/>
                  </a:lnTo>
                  <a:cubicBezTo>
                    <a:pt x="5130165" y="0"/>
                    <a:pt x="5212080" y="81915"/>
                    <a:pt x="5212080" y="182880"/>
                  </a:cubicBezTo>
                  <a:lnTo>
                    <a:pt x="5212080" y="822960"/>
                  </a:lnTo>
                  <a:cubicBezTo>
                    <a:pt x="5212080" y="923925"/>
                    <a:pt x="5130165" y="1005840"/>
                    <a:pt x="5029200" y="1005840"/>
                  </a:cubicBezTo>
                  <a:lnTo>
                    <a:pt x="182880" y="1005840"/>
                  </a:lnTo>
                  <a:cubicBezTo>
                    <a:pt x="81915" y="1005840"/>
                    <a:pt x="0" y="923925"/>
                    <a:pt x="0" y="82296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716000" y="3086100"/>
            <a:ext cx="3909060" cy="754380"/>
            <a:chOff x="0" y="0"/>
            <a:chExt cx="5212080" cy="100584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52120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5212080">
                  <a:moveTo>
                    <a:pt x="0" y="0"/>
                  </a:moveTo>
                  <a:lnTo>
                    <a:pt x="5212080" y="0"/>
                  </a:lnTo>
                  <a:lnTo>
                    <a:pt x="521208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27472C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9525"/>
              <a:ext cx="5212080" cy="1015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Hecho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983176" y="4176236"/>
            <a:ext cx="3374708" cy="905827"/>
            <a:chOff x="0" y="0"/>
            <a:chExt cx="4499610" cy="120777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499610" cy="1207770"/>
            </a:xfrm>
            <a:custGeom>
              <a:avLst/>
              <a:gdLst/>
              <a:ahLst/>
              <a:cxnLst/>
              <a:rect r="r" b="b" t="t" l="l"/>
              <a:pathLst>
                <a:path h="1207770" w="449961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4388104" y="0"/>
                  </a:lnTo>
                  <a:cubicBezTo>
                    <a:pt x="4449699" y="0"/>
                    <a:pt x="4499610" y="49911"/>
                    <a:pt x="4499610" y="111506"/>
                  </a:cubicBezTo>
                  <a:lnTo>
                    <a:pt x="4499610" y="1096264"/>
                  </a:lnTo>
                  <a:cubicBezTo>
                    <a:pt x="4499610" y="1157859"/>
                    <a:pt x="4449699" y="1207770"/>
                    <a:pt x="438810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27472C"/>
            </a:solidFill>
            <a:ln w="14288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68" id="68"/>
          <p:cNvGrpSpPr/>
          <p:nvPr/>
        </p:nvGrpSpPr>
        <p:grpSpPr>
          <a:xfrm rot="0">
            <a:off x="14196060" y="4183380"/>
            <a:ext cx="2948940" cy="891540"/>
            <a:chOff x="0" y="0"/>
            <a:chExt cx="3931920" cy="118872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31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28575"/>
              <a:ext cx="393192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Requerimientos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983176" y="5342096"/>
            <a:ext cx="3374708" cy="905827"/>
            <a:chOff x="0" y="0"/>
            <a:chExt cx="4499610" cy="12077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499610" cy="1207770"/>
            </a:xfrm>
            <a:custGeom>
              <a:avLst/>
              <a:gdLst/>
              <a:ahLst/>
              <a:cxnLst/>
              <a:rect r="r" b="b" t="t" l="l"/>
              <a:pathLst>
                <a:path h="1207770" w="4499610">
                  <a:moveTo>
                    <a:pt x="0" y="111506"/>
                  </a:moveTo>
                  <a:cubicBezTo>
                    <a:pt x="0" y="49911"/>
                    <a:pt x="49911" y="0"/>
                    <a:pt x="111506" y="0"/>
                  </a:cubicBezTo>
                  <a:lnTo>
                    <a:pt x="4388104" y="0"/>
                  </a:lnTo>
                  <a:cubicBezTo>
                    <a:pt x="4449699" y="0"/>
                    <a:pt x="4499610" y="49911"/>
                    <a:pt x="4499610" y="111506"/>
                  </a:cubicBezTo>
                  <a:lnTo>
                    <a:pt x="4499610" y="1096264"/>
                  </a:lnTo>
                  <a:cubicBezTo>
                    <a:pt x="4499610" y="1157859"/>
                    <a:pt x="4449699" y="1207770"/>
                    <a:pt x="4388104" y="1207770"/>
                  </a:cubicBezTo>
                  <a:lnTo>
                    <a:pt x="111506" y="1207770"/>
                  </a:lnTo>
                  <a:cubicBezTo>
                    <a:pt x="49911" y="1207770"/>
                    <a:pt x="0" y="1157859"/>
                    <a:pt x="0" y="1096264"/>
                  </a:cubicBezTo>
                  <a:close/>
                </a:path>
              </a:pathLst>
            </a:custGeom>
            <a:solidFill>
              <a:srgbClr val="27472C"/>
            </a:solidFill>
            <a:ln w="14288" cap="sq">
              <a:solidFill>
                <a:srgbClr val="1A3A5C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4196060" y="5349240"/>
            <a:ext cx="2948940" cy="891540"/>
            <a:chOff x="0" y="0"/>
            <a:chExt cx="3931920" cy="118872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319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50" r="0" b="-1445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28575"/>
              <a:ext cx="3931920" cy="12172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b="true" sz="1650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Arquitectura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960120" y="8709660"/>
            <a:ext cx="16322040" cy="548640"/>
            <a:chOff x="0" y="0"/>
            <a:chExt cx="21762720" cy="7315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1762720" cy="731520"/>
            </a:xfrm>
            <a:custGeom>
              <a:avLst/>
              <a:gdLst/>
              <a:ahLst/>
              <a:cxnLst/>
              <a:rect r="r" b="b" t="t" l="l"/>
              <a:pathLst>
                <a:path h="7315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679" r="0" b="-529679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47625"/>
              <a:ext cx="217627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b="true" sz="1999" i="true">
                  <a:solidFill>
                    <a:srgbClr val="5C6B68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Tablero compartido (Trello/Jira) durante 18 semanas · reuniones semanales de equipo · entregas continuas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08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120" y="754380"/>
            <a:ext cx="10972800" cy="480060"/>
            <a:chOff x="0" y="0"/>
            <a:chExt cx="14630400" cy="640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40080"/>
            </a:xfrm>
            <a:custGeom>
              <a:avLst/>
              <a:gdLst/>
              <a:ahLst/>
              <a:cxnLst/>
              <a:rect r="r" b="b" t="t" l="l"/>
              <a:pathLst>
                <a:path h="64008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5372" r="0" b="-39537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687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299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EQUIPO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60120" y="1234440"/>
            <a:ext cx="16322040" cy="1234440"/>
            <a:chOff x="0" y="0"/>
            <a:chExt cx="21762720" cy="16459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76272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1762720">
                  <a:moveTo>
                    <a:pt x="0" y="0"/>
                  </a:moveTo>
                  <a:lnTo>
                    <a:pt x="21762720" y="0"/>
                  </a:lnTo>
                  <a:lnTo>
                    <a:pt x="21762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7635" r="0" b="-207635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1762720" cy="16554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759"/>
                </a:lnSpc>
              </a:pPr>
              <a:r>
                <a:rPr lang="en-US" b="true" sz="48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Quién hace qué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60120" y="3086100"/>
            <a:ext cx="5212080" cy="5486400"/>
            <a:chOff x="0" y="0"/>
            <a:chExt cx="6949440" cy="7315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9494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9494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29984" y="0"/>
                  </a:lnTo>
                  <a:cubicBezTo>
                    <a:pt x="6851142" y="0"/>
                    <a:pt x="6949440" y="98298"/>
                    <a:pt x="6949440" y="219456"/>
                  </a:cubicBezTo>
                  <a:lnTo>
                    <a:pt x="6949440" y="7095744"/>
                  </a:lnTo>
                  <a:cubicBezTo>
                    <a:pt x="6949440" y="7216901"/>
                    <a:pt x="6851142" y="7315200"/>
                    <a:pt x="6729984" y="7315200"/>
                  </a:cubicBezTo>
                  <a:lnTo>
                    <a:pt x="219456" y="7315200"/>
                  </a:lnTo>
                  <a:cubicBezTo>
                    <a:pt x="98298" y="7315200"/>
                    <a:pt x="0" y="7216902"/>
                    <a:pt x="0" y="7095744"/>
                  </a:cubicBezTo>
                  <a:close/>
                </a:path>
              </a:pathLst>
            </a:custGeom>
            <a:solidFill>
              <a:srgbClr val="111D2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10" id="10"/>
          <p:cNvGrpSpPr/>
          <p:nvPr/>
        </p:nvGrpSpPr>
        <p:grpSpPr>
          <a:xfrm rot="0">
            <a:off x="1440180" y="3566160"/>
            <a:ext cx="1165860" cy="1165860"/>
            <a:chOff x="0" y="0"/>
            <a:chExt cx="1554480" cy="15544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440180" y="3566160"/>
            <a:ext cx="1165860" cy="1165860"/>
            <a:chOff x="0" y="0"/>
            <a:chExt cx="1554480" cy="15544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5544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371600" y="4937760"/>
            <a:ext cx="4389120" cy="548640"/>
            <a:chOff x="0" y="0"/>
            <a:chExt cx="5852160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58521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Samuel Alarcón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40180" y="5486400"/>
            <a:ext cx="4389120" cy="480060"/>
            <a:chOff x="0" y="0"/>
            <a:chExt cx="585216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Infraestructura - Backend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71600" y="6103620"/>
            <a:ext cx="4389120" cy="2194560"/>
            <a:chOff x="0" y="0"/>
            <a:chExt cx="5852160" cy="29260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5852160" cy="3011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Servidores en Digital Ocean, contenedores, despliegue, monitoreo y seguridad.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6720840" y="3086100"/>
            <a:ext cx="5212080" cy="5486400"/>
            <a:chOff x="0" y="0"/>
            <a:chExt cx="6949440" cy="73152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494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9494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29984" y="0"/>
                  </a:lnTo>
                  <a:cubicBezTo>
                    <a:pt x="6851142" y="0"/>
                    <a:pt x="6949440" y="98298"/>
                    <a:pt x="6949440" y="219456"/>
                  </a:cubicBezTo>
                  <a:lnTo>
                    <a:pt x="6949440" y="7095744"/>
                  </a:lnTo>
                  <a:cubicBezTo>
                    <a:pt x="6949440" y="7216901"/>
                    <a:pt x="6851142" y="7315200"/>
                    <a:pt x="6729984" y="7315200"/>
                  </a:cubicBezTo>
                  <a:lnTo>
                    <a:pt x="219456" y="7315200"/>
                  </a:lnTo>
                  <a:cubicBezTo>
                    <a:pt x="98298" y="7315200"/>
                    <a:pt x="0" y="7216902"/>
                    <a:pt x="0" y="7095744"/>
                  </a:cubicBezTo>
                  <a:close/>
                </a:path>
              </a:pathLst>
            </a:custGeom>
            <a:solidFill>
              <a:srgbClr val="111D2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200900" y="3566160"/>
            <a:ext cx="1165860" cy="1165860"/>
            <a:chOff x="0" y="0"/>
            <a:chExt cx="1554480" cy="15544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200900" y="3566160"/>
            <a:ext cx="1165860" cy="1165860"/>
            <a:chOff x="0" y="0"/>
            <a:chExt cx="1554480" cy="15544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5544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SR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132320" y="4937760"/>
            <a:ext cx="4389120" cy="548640"/>
            <a:chOff x="0" y="0"/>
            <a:chExt cx="5852160" cy="73152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58521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Sebastián Ramírez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132320" y="5486400"/>
            <a:ext cx="4389120" cy="480060"/>
            <a:chOff x="0" y="0"/>
            <a:chExt cx="585216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DBA - Infraestructura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132320" y="6103620"/>
            <a:ext cx="4389120" cy="2194560"/>
            <a:chOff x="0" y="0"/>
            <a:chExt cx="5852160" cy="29260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85725"/>
              <a:ext cx="5852160" cy="3011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Modelado de la base de datos MySQL, normalización, respaldo y apoyo en infraestructura.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481560" y="3086100"/>
            <a:ext cx="5212080" cy="5486400"/>
            <a:chOff x="0" y="0"/>
            <a:chExt cx="6949440" cy="73152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0" cy="7315200"/>
            </a:xfrm>
            <a:custGeom>
              <a:avLst/>
              <a:gdLst/>
              <a:ahLst/>
              <a:cxnLst/>
              <a:rect r="r" b="b" t="t" l="l"/>
              <a:pathLst>
                <a:path h="7315200" w="694944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6729984" y="0"/>
                  </a:lnTo>
                  <a:cubicBezTo>
                    <a:pt x="6851142" y="0"/>
                    <a:pt x="6949440" y="98298"/>
                    <a:pt x="6949440" y="219456"/>
                  </a:cubicBezTo>
                  <a:lnTo>
                    <a:pt x="6949440" y="7095744"/>
                  </a:lnTo>
                  <a:cubicBezTo>
                    <a:pt x="6949440" y="7216901"/>
                    <a:pt x="6851142" y="7315200"/>
                    <a:pt x="6729984" y="7315200"/>
                  </a:cubicBezTo>
                  <a:lnTo>
                    <a:pt x="219456" y="7315200"/>
                  </a:lnTo>
                  <a:cubicBezTo>
                    <a:pt x="98298" y="7315200"/>
                    <a:pt x="0" y="7216902"/>
                    <a:pt x="0" y="7095744"/>
                  </a:cubicBezTo>
                  <a:close/>
                </a:path>
              </a:pathLst>
            </a:custGeom>
            <a:solidFill>
              <a:srgbClr val="111D2E"/>
            </a:solid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2961620" y="3566160"/>
            <a:ext cx="1165860" cy="1165860"/>
            <a:chOff x="0" y="0"/>
            <a:chExt cx="1554480" cy="15544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961620" y="3566160"/>
            <a:ext cx="1165860" cy="1165860"/>
            <a:chOff x="0" y="0"/>
            <a:chExt cx="1554480" cy="15544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0"/>
                  </a:moveTo>
                  <a:lnTo>
                    <a:pt x="1554480" y="0"/>
                  </a:lnTo>
                  <a:lnTo>
                    <a:pt x="15544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554480" cy="15735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893040" y="4937760"/>
            <a:ext cx="4389120" cy="548640"/>
            <a:chOff x="0" y="0"/>
            <a:chExt cx="58521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852160" cy="731520"/>
            </a:xfrm>
            <a:custGeom>
              <a:avLst/>
              <a:gdLst/>
              <a:ahLst/>
              <a:cxnLst/>
              <a:rect r="r" b="b" t="t" l="l"/>
              <a:pathLst>
                <a:path h="73152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"/>
              <a:ext cx="5852160" cy="7410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b="true" sz="2400">
                  <a:solidFill>
                    <a:srgbClr val="FFDE5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Benjamín González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893040" y="5486400"/>
            <a:ext cx="4389120" cy="480060"/>
            <a:chOff x="0" y="0"/>
            <a:chExt cx="585216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52160" cy="640080"/>
            </a:xfrm>
            <a:custGeom>
              <a:avLst/>
              <a:gdLst/>
              <a:ahLst/>
              <a:cxnLst/>
              <a:rect r="r" b="b" t="t" l="l"/>
              <a:pathLst>
                <a:path h="640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8148" r="0" b="-128148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5852160" cy="678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E8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Frontend · Backend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893040" y="6103620"/>
            <a:ext cx="4389120" cy="2194560"/>
            <a:chOff x="0" y="0"/>
            <a:chExt cx="5852160" cy="29260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85725"/>
              <a:ext cx="5852160" cy="30118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59"/>
                </a:lnSpc>
              </a:pPr>
              <a:r>
                <a:rPr lang="en-US" b="true" sz="1999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Interfaz Angular, API REST en Node.js, app móvil Flutter e integración de pago.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7048988" y="9601200"/>
            <a:ext cx="822960" cy="411480"/>
            <a:chOff x="0" y="0"/>
            <a:chExt cx="1097280" cy="5486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5C6B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09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844972" y="-3575631"/>
            <a:ext cx="5760720" cy="7151261"/>
            <a:chOff x="0" y="0"/>
            <a:chExt cx="7680960" cy="953501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0960" cy="9535015"/>
            </a:xfrm>
            <a:custGeom>
              <a:avLst/>
              <a:gdLst/>
              <a:ahLst/>
              <a:cxnLst/>
              <a:rect r="r" b="b" t="t" l="l"/>
              <a:pathLst>
                <a:path h="9535015" w="7680960">
                  <a:moveTo>
                    <a:pt x="0" y="4767507"/>
                  </a:moveTo>
                  <a:cubicBezTo>
                    <a:pt x="0" y="2134500"/>
                    <a:pt x="1719453" y="0"/>
                    <a:pt x="3840480" y="0"/>
                  </a:cubicBezTo>
                  <a:cubicBezTo>
                    <a:pt x="5961507" y="0"/>
                    <a:pt x="7680960" y="2134500"/>
                    <a:pt x="7680960" y="4767507"/>
                  </a:cubicBezTo>
                  <a:cubicBezTo>
                    <a:pt x="7680960" y="7400515"/>
                    <a:pt x="5961507" y="9535015"/>
                    <a:pt x="3840480" y="9535015"/>
                  </a:cubicBezTo>
                  <a:cubicBezTo>
                    <a:pt x="1719453" y="9535015"/>
                    <a:pt x="0" y="7400515"/>
                    <a:pt x="0" y="4767507"/>
                  </a:cubicBezTo>
                  <a:close/>
                </a:path>
              </a:pathLst>
            </a:custGeom>
            <a:solidFill>
              <a:srgbClr val="E8734A">
                <a:alpha val="60784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2057400" y="8436102"/>
            <a:ext cx="4114800" cy="4114800"/>
            <a:chOff x="0" y="0"/>
            <a:chExt cx="5486400" cy="5486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86400" cy="5486400"/>
            </a:xfrm>
            <a:custGeom>
              <a:avLst/>
              <a:gdLst/>
              <a:ahLst/>
              <a:cxnLst/>
              <a:rect r="r" b="b" t="t" l="l"/>
              <a:pathLst>
                <a:path h="5486400" w="5486400">
                  <a:moveTo>
                    <a:pt x="0" y="2743200"/>
                  </a:moveTo>
                  <a:cubicBezTo>
                    <a:pt x="0" y="1228217"/>
                    <a:pt x="1228217" y="0"/>
                    <a:pt x="2743200" y="0"/>
                  </a:cubicBezTo>
                  <a:cubicBezTo>
                    <a:pt x="4258183" y="0"/>
                    <a:pt x="5486400" y="1228217"/>
                    <a:pt x="5486400" y="2743200"/>
                  </a:cubicBezTo>
                  <a:cubicBezTo>
                    <a:pt x="5486400" y="4258183"/>
                    <a:pt x="4258183" y="5486400"/>
                    <a:pt x="2743200" y="5486400"/>
                  </a:cubicBezTo>
                  <a:cubicBezTo>
                    <a:pt x="1228217" y="5486400"/>
                    <a:pt x="0" y="4258183"/>
                    <a:pt x="0" y="2743200"/>
                  </a:cubicBezTo>
                  <a:close/>
                </a:path>
              </a:pathLst>
            </a:custGeom>
            <a:solidFill>
              <a:srgbClr val="E8734A">
                <a:alpha val="60784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497580"/>
            <a:ext cx="13716000" cy="2194560"/>
            <a:chOff x="0" y="0"/>
            <a:chExt cx="18288000" cy="29260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1781" r="0" b="-71781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18288000" cy="2945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240"/>
                </a:lnSpc>
              </a:pPr>
              <a:r>
                <a:rPr lang="en-US" sz="102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Mockups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234472" y="5654022"/>
            <a:ext cx="8532495" cy="28593"/>
          </a:xfrm>
          <a:prstGeom prst="line">
            <a:avLst/>
          </a:prstGeom>
          <a:ln cap="rnd" w="19050">
            <a:solidFill>
              <a:srgbClr val="E8734A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645920" y="-1645920"/>
            <a:ext cx="5486400" cy="5486400"/>
            <a:chOff x="0" y="0"/>
            <a:chExt cx="7315200" cy="731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315200" cy="7315200"/>
            </a:xfrm>
            <a:custGeom>
              <a:avLst/>
              <a:gdLst/>
              <a:ahLst/>
              <a:cxnLst/>
              <a:rect r="r" b="b" t="t" l="l"/>
              <a:pathLst>
                <a:path h="7315200" w="7315200">
                  <a:moveTo>
                    <a:pt x="0" y="3657600"/>
                  </a:moveTo>
                  <a:cubicBezTo>
                    <a:pt x="0" y="1637538"/>
                    <a:pt x="1637538" y="0"/>
                    <a:pt x="3657600" y="0"/>
                  </a:cubicBezTo>
                  <a:cubicBezTo>
                    <a:pt x="5677662" y="0"/>
                    <a:pt x="7315200" y="1637538"/>
                    <a:pt x="7315200" y="3657600"/>
                  </a:cubicBezTo>
                  <a:cubicBezTo>
                    <a:pt x="7315200" y="5677662"/>
                    <a:pt x="5677662" y="7315200"/>
                    <a:pt x="3657600" y="7315200"/>
                  </a:cubicBezTo>
                  <a:cubicBezTo>
                    <a:pt x="1637538" y="7315200"/>
                    <a:pt x="0" y="5677662"/>
                    <a:pt x="0" y="3657600"/>
                  </a:cubicBezTo>
                  <a:close/>
                </a:path>
              </a:pathLst>
            </a:custGeom>
            <a:solidFill>
              <a:srgbClr val="0D2137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87600" y="6858000"/>
            <a:ext cx="4800600" cy="4800600"/>
            <a:chOff x="0" y="0"/>
            <a:chExt cx="6400800" cy="640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0080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00800">
                  <a:moveTo>
                    <a:pt x="0" y="3200400"/>
                  </a:moveTo>
                  <a:cubicBezTo>
                    <a:pt x="0" y="1432814"/>
                    <a:pt x="1432814" y="0"/>
                    <a:pt x="3200400" y="0"/>
                  </a:cubicBezTo>
                  <a:cubicBezTo>
                    <a:pt x="4967986" y="0"/>
                    <a:pt x="6400800" y="1432814"/>
                    <a:pt x="6400800" y="3200400"/>
                  </a:cubicBezTo>
                  <a:cubicBezTo>
                    <a:pt x="6400800" y="4967986"/>
                    <a:pt x="4967986" y="6400800"/>
                    <a:pt x="3200400" y="6400800"/>
                  </a:cubicBezTo>
                  <a:cubicBezTo>
                    <a:pt x="1432814" y="6400800"/>
                    <a:pt x="0" y="4967986"/>
                    <a:pt x="0" y="3200400"/>
                  </a:cubicBezTo>
                  <a:close/>
                </a:path>
              </a:pathLst>
            </a:custGeom>
            <a:solidFill>
              <a:srgbClr val="00BCD4">
                <a:alpha val="1961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34440" y="3977640"/>
            <a:ext cx="13716000" cy="1783080"/>
            <a:chOff x="0" y="0"/>
            <a:chExt cx="18288000" cy="23774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2880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377440"/>
                  </a:lnTo>
                  <a:lnTo>
                    <a:pt x="0" y="2377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884" r="0" b="-9988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8288000" cy="23869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080"/>
                </a:lnSpc>
              </a:pPr>
              <a:r>
                <a:rPr lang="en-US" sz="8400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Gracias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1288734" y="5685457"/>
            <a:ext cx="6886573" cy="28606"/>
          </a:xfrm>
          <a:prstGeom prst="line">
            <a:avLst/>
          </a:prstGeom>
          <a:ln cap="rnd" w="19050">
            <a:solidFill>
              <a:srgbClr val="00BCD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303020" y="5974080"/>
            <a:ext cx="13716000" cy="548640"/>
            <a:chOff x="0" y="0"/>
            <a:chExt cx="18288000" cy="73152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828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1828800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Samuel Alarcón · Sebastián Ramírez · Benjamín González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303020" y="6454140"/>
            <a:ext cx="13716000" cy="480060"/>
            <a:chOff x="0" y="0"/>
            <a:chExt cx="18288000" cy="640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288000" cy="640080"/>
            </a:xfrm>
            <a:custGeom>
              <a:avLst/>
              <a:gdLst/>
              <a:ahLst/>
              <a:cxnLst/>
              <a:rect r="r" b="b" t="t" l="l"/>
              <a:pathLst>
                <a:path h="64008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6715" r="0" b="-50671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18288000" cy="6686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>
                  <a:solidFill>
                    <a:srgbClr val="CFE3E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Cotizapp · Ingeniería en Informática · Duoc UC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DAHU6wxzqEk</dc:identifier>
  <dcterms:modified xsi:type="dcterms:W3CDTF">2011-08-01T06:04:30Z</dcterms:modified>
  <cp:revision>1</cp:revision>
  <dc:title>Cotizapp_Presentacion_Fase1.pptx</dc:title>
</cp:coreProperties>
</file>